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del informe estratégico ante el Consejo Directivo. Los cinco pilares de la franja inferior — datos, interoperabilidad, estándares, conectividad y sostenibilidad — estructuran toda la presentación.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visión ordena el discurso: conectividad, eficiencia municipal y mejor servicio al ciudadano. Los cuatro indicadores de la banda inferior son las metas de referencia del instrumento.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actores, tres aportes distintos y complementarios. Evita la confusión más común: creer que InDiCo, OASC y U4SSC son lo mismo.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InDiCo Global no aporta solo financiamiento: aporta acceso a estándares, capacitación y una red de pares. En RD ya hay metas concretas: 3 a 5 ciudades piloto y un hub sostenible.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punto clave: OASC no es un proveedor, es una red que define reglas comunes. Eso protege al Estado de la dependencia tecnológica.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mecanismos de operación. El acuerdo con la UIT de 2024 da respaldo institucional al vínculo con el sistema de Naciones Unidas.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Traducción del concepto técnico a decisión de política pública: el mínimo común obligatorio evita compras aisladas y protege la inversión municipal.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Versión sintética de la lámina 6, pensada para audiencias ejecutivas: cuatro pilares, una línea cada 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Lámina de anclaje visual: los MIMs conectan movilidad, ambiente, permisos, seguridad y conectividad en un mismo lenguaje.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fases secuenciales. La medición cierra el ciclo y lo realimenta: sin KPIs U4SSC no hay mejora continua ni evidencia para el Consejo Directivo.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argumento técnico con el argumento humano: seis servicios cotidianos donde el ciudadano percibe el resultado de la interoperabilidad.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Lámina de cierre y solicitud formal: el Consejo Directivo autoriza convertir la cooperación InDiCo/OASC/U4SSC en un instrumento permanente del INDOTEL.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1.png"/><Relationship Id="rId6" Type="http://schemas.openxmlformats.org/officeDocument/2006/relationships/image" Target="../media/image-4-1.png"/><Relationship Id="rId7" Type="http://schemas.openxmlformats.org/officeDocument/2006/relationships/image" Target="../media/image-4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image" Target="../media/image-7-1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image" Target="../media/image-9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olt.diy/presentaciones/indotel-ciudades-inteligentes/src/derived/city_nigh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bolt.diy/presentaciones/indotel-ciudades-inteligentes/src/derived/veil_co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3840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INDOTEL</a:t>
            </a:r>
            <a:endParaRPr lang="en-US" sz="2600" dirty="0"/>
          </a:p>
        </p:txBody>
      </p:sp>
      <p:sp>
        <p:nvSpPr>
          <p:cNvPr id="5" name="Text 1"/>
          <p:cNvSpPr/>
          <p:nvPr/>
        </p:nvSpPr>
        <p:spPr>
          <a:xfrm>
            <a:off x="566928" y="13898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60" kern="0" dirty="0">
                <a:solidFill>
                  <a:srgbClr val="4FA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REPÚBLICA DOMINICANA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566928" y="1719072"/>
            <a:ext cx="7589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Nacional</a:t>
            </a:r>
            <a:endParaRPr lang="en-US" sz="35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Ciudades Inteligentes</a:t>
            </a:r>
            <a:endParaRPr lang="en-US" sz="3500" dirty="0"/>
          </a:p>
        </p:txBody>
      </p:sp>
      <p:sp>
        <p:nvSpPr>
          <p:cNvPr id="7" name="Text 3"/>
          <p:cNvSpPr/>
          <p:nvPr/>
        </p:nvSpPr>
        <p:spPr>
          <a:xfrm>
            <a:off x="566928" y="2980944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FA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 Estratégico INDOTEL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566928" y="356616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Conectando municipios. Impulsando innovación.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Transformando vidas.</a:t>
            </a:r>
            <a:endParaRPr lang="en-US" sz="1350" dirty="0"/>
          </a:p>
        </p:txBody>
      </p:sp>
      <p:pic>
        <p:nvPicPr>
          <p:cNvPr id="9" name="Image 2" descr="/home/user/bolt.diy/presentaciones/indotel-ciudades-inteligentes/src/icons/s1_dato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4846320"/>
            <a:ext cx="402336" cy="40233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66928" y="5394960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40" kern="0" dirty="0">
                <a:solidFill>
                  <a:srgbClr val="D3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750" dirty="0"/>
          </a:p>
        </p:txBody>
      </p:sp>
      <p:pic>
        <p:nvPicPr>
          <p:cNvPr id="11" name="Image 3" descr="/home/user/bolt.diy/presentaciones/indotel-ciudades-inteligentes/src/icons/s1_inter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1408" y="4846320"/>
            <a:ext cx="402336" cy="40233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084832" y="5394960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40" kern="0" dirty="0">
                <a:solidFill>
                  <a:srgbClr val="D3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INTEROPERABILIDAD</a:t>
            </a:r>
            <a:endParaRPr lang="en-US" sz="750" dirty="0"/>
          </a:p>
        </p:txBody>
      </p:sp>
      <p:pic>
        <p:nvPicPr>
          <p:cNvPr id="13" name="Image 4" descr="/home/user/bolt.diy/presentaciones/indotel-ciudades-inteligentes/src/icons/s1_estandar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9312" y="4846320"/>
            <a:ext cx="402336" cy="40233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602736" y="5394960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40" kern="0" dirty="0">
                <a:solidFill>
                  <a:srgbClr val="D3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</a:t>
            </a:r>
            <a:endParaRPr lang="en-US" sz="750" dirty="0"/>
          </a:p>
        </p:txBody>
      </p:sp>
      <p:pic>
        <p:nvPicPr>
          <p:cNvPr id="15" name="Image 5" descr="/home/user/bolt.diy/presentaciones/indotel-ciudades-inteligentes/src/icons/s1_conectivida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7216" y="4846320"/>
            <a:ext cx="402336" cy="40233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120640" y="5394960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40" kern="0" dirty="0">
                <a:solidFill>
                  <a:srgbClr val="D3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</a:t>
            </a:r>
            <a:endParaRPr lang="en-US" sz="750" dirty="0"/>
          </a:p>
        </p:txBody>
      </p:sp>
      <p:pic>
        <p:nvPicPr>
          <p:cNvPr id="17" name="Image 6" descr="/home/user/bolt.diy/presentaciones/indotel-ciudades-inteligentes/src/icons/s1_sostenibilida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4846320"/>
            <a:ext cx="402336" cy="402336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638544" y="5394960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40" kern="0" dirty="0">
                <a:solidFill>
                  <a:srgbClr val="D3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SOSTENIBILIDAD</a:t>
            </a:r>
            <a:endParaRPr lang="en-US" sz="750" dirty="0"/>
          </a:p>
        </p:txBody>
      </p:sp>
      <p:sp>
        <p:nvSpPr>
          <p:cNvPr id="19" name="Shape 10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0A2E7A"/>
          </a:solidFill>
          <a:ln/>
        </p:spPr>
      </p:sp>
      <p:sp>
        <p:nvSpPr>
          <p:cNvPr id="20" name="Text 11"/>
          <p:cNvSpPr/>
          <p:nvPr/>
        </p:nvSpPr>
        <p:spPr>
          <a:xfrm>
            <a:off x="566928" y="6272784"/>
            <a:ext cx="6583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Estratégico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Proyecto InDiCo Global / OASC / U4SSC</a:t>
            </a:r>
            <a:endParaRPr lang="en-US" sz="1000" dirty="0"/>
          </a:p>
        </p:txBody>
      </p:sp>
      <p:sp>
        <p:nvSpPr>
          <p:cNvPr id="21" name="Text 12"/>
          <p:cNvSpPr/>
          <p:nvPr/>
        </p:nvSpPr>
        <p:spPr>
          <a:xfrm>
            <a:off x="7223760" y="6272784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Consejo Directivo INDOTEL</a:t>
            </a:r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2026</a:t>
            </a:r>
            <a:endParaRPr lang="en-US" sz="1000" dirty="0"/>
          </a:p>
        </p:txBody>
      </p:sp>
      <p:sp>
        <p:nvSpPr>
          <p:cNvPr id="22" name="Text 13"/>
          <p:cNvSpPr/>
          <p:nvPr/>
        </p:nvSpPr>
        <p:spPr>
          <a:xfrm>
            <a:off x="11475720" y="6272784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olt.diy/presentaciones/indotel-ciudades-inteligentes/src/derived/monumento_sof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0"/>
            <a:ext cx="6796735" cy="46817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LA VISIÓN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66928" y="786384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250" b="1" dirty="0">
                <a:solidFill>
                  <a:srgbClr val="0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país conectado.</a:t>
            </a:r>
            <a:endParaRPr lang="en-US" sz="225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50" b="1" dirty="0">
                <a:solidFill>
                  <a:srgbClr val="0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Municipios más eficientes.</a:t>
            </a:r>
            <a:endParaRPr lang="en-US" sz="225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50" b="1" dirty="0">
                <a:solidFill>
                  <a:srgbClr val="0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Ciudadanos mejor servidos.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66928" y="2395728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instrumento estratégico del INDOTEL convierte la cooperación internacional en resultados reales para la República Dominicana.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955280" y="457200"/>
            <a:ext cx="3950208" cy="3611880"/>
          </a:xfrm>
          <a:prstGeom prst="roundRect">
            <a:avLst>
              <a:gd name="adj" fmla="val 2785"/>
            </a:avLst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279400" dist="50800" dir="5400000">
              <a:srgbClr val="0A1F45">
                <a:alpha val="2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84464" y="777240"/>
            <a:ext cx="475488" cy="475488"/>
          </a:xfrm>
          <a:prstGeom prst="ellipse">
            <a:avLst/>
          </a:prstGeom>
          <a:solidFill>
            <a:srgbClr val="0B4489"/>
          </a:solidFill>
          <a:ln/>
        </p:spPr>
      </p:sp>
      <p:pic>
        <p:nvPicPr>
          <p:cNvPr id="8" name="Image 1" descr="/home/user/bolt.diy/presentaciones/indotel-ciudades-inteligentes/src/icons/s2_servici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3336" y="896112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61120" y="74066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Mejores servicios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ciudadanía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8284464" y="1618488"/>
            <a:ext cx="475488" cy="475488"/>
          </a:xfrm>
          <a:prstGeom prst="ellipse">
            <a:avLst/>
          </a:prstGeom>
          <a:solidFill>
            <a:srgbClr val="0B4489"/>
          </a:solidFill>
          <a:ln/>
        </p:spPr>
      </p:sp>
      <p:pic>
        <p:nvPicPr>
          <p:cNvPr id="11" name="Image 2" descr="/home/user/bolt.diy/presentaciones/indotel-ciudades-inteligentes/src/icons/s2_decision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1737360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961120" y="158191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basadas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datos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8284464" y="2459736"/>
            <a:ext cx="475488" cy="475488"/>
          </a:xfrm>
          <a:prstGeom prst="ellipse">
            <a:avLst/>
          </a:prstGeom>
          <a:solidFill>
            <a:srgbClr val="0B4489"/>
          </a:solidFill>
          <a:ln/>
        </p:spPr>
      </p:sp>
      <p:pic>
        <p:nvPicPr>
          <p:cNvPr id="14" name="Image 3" descr="/home/user/bolt.diy/presentaciones/indotel-ciudades-inteligentes/src/icons/s2_invers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3336" y="257860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61120" y="24231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pública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eficiente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8284464" y="3300984"/>
            <a:ext cx="475488" cy="475488"/>
          </a:xfrm>
          <a:prstGeom prst="ellipse">
            <a:avLst/>
          </a:prstGeom>
          <a:solidFill>
            <a:srgbClr val="0B4489"/>
          </a:solidFill>
          <a:ln/>
        </p:spPr>
      </p:sp>
      <p:pic>
        <p:nvPicPr>
          <p:cNvPr id="17" name="Image 4" descr="/home/user/bolt.diy/presentaciones/indotel-ciudades-inteligentes/src/icons/s2_ciudad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3336" y="3419856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961120" y="326440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Ciudades sostenibles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inclusivas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0" y="4681728"/>
            <a:ext cx="12191695" cy="2176272"/>
          </a:xfrm>
          <a:prstGeom prst="rect">
            <a:avLst/>
          </a:prstGeom>
          <a:solidFill>
            <a:srgbClr val="0A2E7A"/>
          </a:solidFill>
          <a:ln/>
        </p:spPr>
      </p:sp>
      <p:pic>
        <p:nvPicPr>
          <p:cNvPr id="20" name="Image 5" descr="/home/user/bolt.diy/presentaciones/indotel-ciudades-inteligentes/src/icons/s2_kpi_municipio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5413248"/>
            <a:ext cx="603504" cy="60350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25296" y="5084064"/>
            <a:ext cx="16306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MUNICIPIOS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CONECTADOS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1225296" y="5650992"/>
            <a:ext cx="16306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50</a:t>
            </a:r>
            <a:endParaRPr lang="en-US" sz="2700" dirty="0"/>
          </a:p>
        </p:txBody>
      </p:sp>
      <p:pic>
        <p:nvPicPr>
          <p:cNvPr id="23" name="Image 6" descr="/home/user/bolt.diy/presentaciones/indotel-ciudades-inteligentes/src/icons/s2_kpi_ciudadano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6836" y="5413248"/>
            <a:ext cx="603504" cy="60350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273220" y="5084064"/>
            <a:ext cx="16306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CIUDADANOS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IMPACTADOS</a:t>
            </a:r>
            <a:endParaRPr lang="en-US" sz="1000" dirty="0"/>
          </a:p>
        </p:txBody>
      </p:sp>
      <p:sp>
        <p:nvSpPr>
          <p:cNvPr id="25" name="Text 16"/>
          <p:cNvSpPr/>
          <p:nvPr/>
        </p:nvSpPr>
        <p:spPr>
          <a:xfrm>
            <a:off x="4273220" y="5650992"/>
            <a:ext cx="16306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3M</a:t>
            </a:r>
            <a:endParaRPr lang="en-US" sz="2700" dirty="0"/>
          </a:p>
        </p:txBody>
      </p:sp>
      <p:sp>
        <p:nvSpPr>
          <p:cNvPr id="26" name="Shape 17"/>
          <p:cNvSpPr/>
          <p:nvPr/>
        </p:nvSpPr>
        <p:spPr>
          <a:xfrm>
            <a:off x="3047924" y="5084064"/>
            <a:ext cx="0" cy="1371600"/>
          </a:xfrm>
          <a:prstGeom prst="line">
            <a:avLst/>
          </a:prstGeom>
          <a:noFill/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27" name="Image 7" descr="/home/user/bolt.diy/presentaciones/indotel-ciudades-inteligentes/src/icons/s2_kpi_proyecto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760" y="5413248"/>
            <a:ext cx="603504" cy="603504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7321144" y="5084064"/>
            <a:ext cx="16306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PRIORIZADOS</a:t>
            </a:r>
            <a:endParaRPr lang="en-US" sz="1000" dirty="0"/>
          </a:p>
        </p:txBody>
      </p:sp>
      <p:sp>
        <p:nvSpPr>
          <p:cNvPr id="29" name="Text 19"/>
          <p:cNvSpPr/>
          <p:nvPr/>
        </p:nvSpPr>
        <p:spPr>
          <a:xfrm>
            <a:off x="7321144" y="5650992"/>
            <a:ext cx="16306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100</a:t>
            </a:r>
            <a:endParaRPr lang="en-US" sz="2700" dirty="0"/>
          </a:p>
        </p:txBody>
      </p:sp>
      <p:sp>
        <p:nvSpPr>
          <p:cNvPr id="30" name="Shape 20"/>
          <p:cNvSpPr/>
          <p:nvPr/>
        </p:nvSpPr>
        <p:spPr>
          <a:xfrm>
            <a:off x="6095848" y="5084064"/>
            <a:ext cx="0" cy="1371600"/>
          </a:xfrm>
          <a:prstGeom prst="line">
            <a:avLst/>
          </a:prstGeom>
          <a:noFill/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31" name="Image 8" descr="/home/user/bolt.diy/presentaciones/indotel-ciudades-inteligentes/src/icons/s2_kpi_decisio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82683" y="5413248"/>
            <a:ext cx="603504" cy="603504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10369067" y="5084064"/>
            <a:ext cx="16306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DECISIÓN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PÚBLICA</a:t>
            </a:r>
            <a:endParaRPr lang="en-US" sz="1000" dirty="0"/>
          </a:p>
        </p:txBody>
      </p:sp>
      <p:sp>
        <p:nvSpPr>
          <p:cNvPr id="33" name="Text 22"/>
          <p:cNvSpPr/>
          <p:nvPr/>
        </p:nvSpPr>
        <p:spPr>
          <a:xfrm>
            <a:off x="10369067" y="5650992"/>
            <a:ext cx="16306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700" dirty="0"/>
          </a:p>
        </p:txBody>
      </p:sp>
      <p:sp>
        <p:nvSpPr>
          <p:cNvPr id="34" name="Shape 23"/>
          <p:cNvSpPr/>
          <p:nvPr/>
        </p:nvSpPr>
        <p:spPr>
          <a:xfrm>
            <a:off x="9143771" y="5084064"/>
            <a:ext cx="0" cy="1371600"/>
          </a:xfrm>
          <a:prstGeom prst="line">
            <a:avLst/>
          </a:prstGeom>
          <a:noFill/>
          <a:ln w="12700">
            <a:solidFill>
              <a:srgbClr val="FFFFFF">
                <a:alpha val="28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olt.diy/presentaciones/indotel-ciudades-inteligentes/src/derived/globe_sof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02920" y="1225296"/>
            <a:ext cx="5486400" cy="46817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30" kern="0" dirty="0">
                <a:solidFill>
                  <a:srgbClr val="0D1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INDOTEL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66928" y="5166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estratégico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0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Primero: Quiénes son los actores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5779008" y="1645920"/>
            <a:ext cx="420624" cy="420624"/>
          </a:xfrm>
          <a:prstGeom prst="ellipse">
            <a:avLst/>
          </a:prstGeom>
          <a:solidFill>
            <a:srgbClr val="0B4489"/>
          </a:solidFill>
          <a:ln/>
        </p:spPr>
      </p:sp>
      <p:sp>
        <p:nvSpPr>
          <p:cNvPr id="7" name="Text 4"/>
          <p:cNvSpPr/>
          <p:nvPr/>
        </p:nvSpPr>
        <p:spPr>
          <a:xfrm>
            <a:off x="5779008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473952" y="16002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InDiCo Global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73952" y="1874520"/>
            <a:ext cx="5157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cooperación internacional sobre estándares digitales/ICT y políticas digitales. Su valor para RD es transferencia de capacidades, alineación con estándares y apoyo técnico.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989320" y="2066544"/>
            <a:ext cx="0" cy="777240"/>
          </a:xfrm>
          <a:prstGeom prst="line">
            <a:avLst/>
          </a:prstGeom>
          <a:noFill/>
          <a:ln w="12700">
            <a:solidFill>
              <a:srgbClr val="AFC2D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79008" y="2843784"/>
            <a:ext cx="420624" cy="420624"/>
          </a:xfrm>
          <a:prstGeom prst="ellipse">
            <a:avLst/>
          </a:prstGeom>
          <a:solidFill>
            <a:srgbClr val="0B4489"/>
          </a:solidFill>
          <a:ln/>
        </p:spPr>
      </p:sp>
      <p:sp>
        <p:nvSpPr>
          <p:cNvPr id="12" name="Text 9"/>
          <p:cNvSpPr/>
          <p:nvPr/>
        </p:nvSpPr>
        <p:spPr>
          <a:xfrm>
            <a:off x="5779008" y="2843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473952" y="2798064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OASC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473952" y="3072384"/>
            <a:ext cx="5157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&amp; Agile Smart Cities and Communities. Red global de ciudades y comunidades que ayuda a administraciones locales a avanzar en transformación digital e interoperabilidad.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89320" y="3264408"/>
            <a:ext cx="0" cy="777240"/>
          </a:xfrm>
          <a:prstGeom prst="line">
            <a:avLst/>
          </a:prstGeom>
          <a:noFill/>
          <a:ln w="12700">
            <a:solidFill>
              <a:srgbClr val="AFC2D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79008" y="4041648"/>
            <a:ext cx="420624" cy="420624"/>
          </a:xfrm>
          <a:prstGeom prst="ellipse">
            <a:avLst/>
          </a:prstGeom>
          <a:solidFill>
            <a:srgbClr val="0B4489"/>
          </a:solidFill>
          <a:ln/>
        </p:spPr>
      </p:sp>
      <p:sp>
        <p:nvSpPr>
          <p:cNvPr id="17" name="Text 14"/>
          <p:cNvSpPr/>
          <p:nvPr/>
        </p:nvSpPr>
        <p:spPr>
          <a:xfrm>
            <a:off x="5779008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6473952" y="3995928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U4SSC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473952" y="4270248"/>
            <a:ext cx="5157216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for Smart Sustainable Cities. Iniciativa del sistema ONU que ofrece KPIs y modelos de medición para ciudades inteligentes y sostenibles.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0" y="5596128"/>
            <a:ext cx="12191695" cy="676656"/>
          </a:xfrm>
          <a:prstGeom prst="rect">
            <a:avLst/>
          </a:prstGeom>
          <a:solidFill>
            <a:srgbClr val="0A2E7A"/>
          </a:solidFill>
          <a:ln/>
        </p:spPr>
      </p:sp>
      <p:sp>
        <p:nvSpPr>
          <p:cNvPr id="21" name="Text 18"/>
          <p:cNvSpPr/>
          <p:nvPr/>
        </p:nvSpPr>
        <p:spPr>
          <a:xfrm>
            <a:off x="566928" y="5596128"/>
            <a:ext cx="1057320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estratégico: InDiCo abre la cooperación; OASC aporta interoperabilidad y red; U4SSC aporta medición, INDOTEL convierte todo en política pública operativa.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405311" y="5596128"/>
            <a:ext cx="365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66928" y="6437376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InDiCo Global; OASC; U4SSC / ITU.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30" kern="0" dirty="0">
                <a:solidFill>
                  <a:srgbClr val="0D1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INDOTEL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66928" y="5166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estratégico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0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InDiCo Global: cooperación digital y estándares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566928" y="1234440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243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solo un “proyecto”; es una puerta de acceso a conocimiento y estándares internacionales.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89320" y="1920240"/>
            <a:ext cx="0" cy="3246120"/>
          </a:xfrm>
          <a:prstGeom prst="line">
            <a:avLst/>
          </a:prstGeom>
          <a:noFill/>
          <a:ln w="12700">
            <a:solidFill>
              <a:srgbClr val="CBD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92024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3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promueve</a:t>
            </a:r>
            <a:endParaRPr lang="en-US" sz="1350" dirty="0"/>
          </a:p>
        </p:txBody>
      </p:sp>
      <p:pic>
        <p:nvPicPr>
          <p:cNvPr id="8" name="Image 0" descr="/home/user/bolt.diy/presentaciones/indotel-ciudades-inteligentes/src/icons/check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459736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2386584"/>
            <a:ext cx="4517136" cy="28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sobre modelos de estándares ICT/digitales.</a:t>
            </a:r>
            <a:endParaRPr lang="en-US" sz="1100" dirty="0"/>
          </a:p>
        </p:txBody>
      </p:sp>
      <p:pic>
        <p:nvPicPr>
          <p:cNvPr id="10" name="Image 1" descr="/home/user/bolt.diy/presentaciones/indotel-ciudades-inteligentes/src/icons/check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967736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77824" y="2894584"/>
            <a:ext cx="4517136" cy="28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y cooperación con países y regiones socias.</a:t>
            </a:r>
            <a:endParaRPr lang="en-US" sz="1100" dirty="0"/>
          </a:p>
        </p:txBody>
      </p:sp>
      <p:pic>
        <p:nvPicPr>
          <p:cNvPr id="12" name="Image 2" descr="/home/user/bolt.diy/presentaciones/indotel-ciudades-inteligentes/src/icons/check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475736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77824" y="3402584"/>
            <a:ext cx="4517136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Interoperabilidad, ciberseguridad, datos, IoT, 5G, IA y ciudades inteligentes.</a:t>
            </a:r>
            <a:endParaRPr lang="en-US" sz="1100" dirty="0"/>
          </a:p>
        </p:txBody>
      </p:sp>
      <p:pic>
        <p:nvPicPr>
          <p:cNvPr id="14" name="Image 3" descr="/home/user/bolt.diy/presentaciones/indotel-ciudades-inteligentes/src/icons/check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162552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77824" y="4089400"/>
            <a:ext cx="4517136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estándares compatibles con valores europeos: apertura, protección de datos y confianza.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355080" y="192024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3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directa en RD</a:t>
            </a:r>
            <a:endParaRPr lang="en-US" sz="1350" dirty="0"/>
          </a:p>
        </p:txBody>
      </p:sp>
      <p:pic>
        <p:nvPicPr>
          <p:cNvPr id="17" name="Image 4" descr="/home/user/bolt.diy/presentaciones/indotel-ciudades-inteligentes/src/icons/check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459736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665976" y="2386584"/>
            <a:ext cx="4517136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OASC trabajará con 3–5 ciudades dominicanas para apoyar su madurez digital.</a:t>
            </a:r>
            <a:endParaRPr lang="en-US" sz="1100" dirty="0"/>
          </a:p>
        </p:txBody>
      </p:sp>
      <p:pic>
        <p:nvPicPr>
          <p:cNvPr id="19" name="Image 5" descr="/home/user/bolt.diy/presentaciones/indotel-ciudades-inteligentes/src/icons/check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146552"/>
            <a:ext cx="182880" cy="18288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665976" y="3073400"/>
            <a:ext cx="4517136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usarán LORDIMAS y el modelo ITU de madurez de ciudades inteligentes y sostenibles.</a:t>
            </a:r>
            <a:endParaRPr lang="en-US" sz="1100" dirty="0"/>
          </a:p>
        </p:txBody>
      </p:sp>
      <p:pic>
        <p:nvPicPr>
          <p:cNvPr id="21" name="Image 6" descr="/home/user/bolt.diy/presentaciones/indotel-ciudades-inteligentes/src/icons/check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3833368"/>
            <a:ext cx="182880" cy="18288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665976" y="3760216"/>
            <a:ext cx="4517136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publicada: crear un hub sostenible vinculado a OASC y U4SSC.</a:t>
            </a:r>
            <a:endParaRPr lang="en-US" sz="1100" dirty="0"/>
          </a:p>
        </p:txBody>
      </p:sp>
      <p:sp>
        <p:nvSpPr>
          <p:cNvPr id="23" name="Shape 14"/>
          <p:cNvSpPr/>
          <p:nvPr/>
        </p:nvSpPr>
        <p:spPr>
          <a:xfrm>
            <a:off x="0" y="5504688"/>
            <a:ext cx="12191695" cy="676656"/>
          </a:xfrm>
          <a:prstGeom prst="rect">
            <a:avLst/>
          </a:prstGeom>
          <a:solidFill>
            <a:srgbClr val="0A2E7A"/>
          </a:solidFill>
          <a:ln/>
        </p:spPr>
      </p:sp>
      <p:sp>
        <p:nvSpPr>
          <p:cNvPr id="24" name="Text 15"/>
          <p:cNvSpPr/>
          <p:nvPr/>
        </p:nvSpPr>
        <p:spPr>
          <a:xfrm>
            <a:off x="566928" y="5504688"/>
            <a:ext cx="1057320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INDOTEL: esto permite pasar de una cooperación puntual a una arquitectura nacional de acompañamiento municipal.</a:t>
            </a:r>
            <a:endParaRPr lang="en-US" sz="1150" dirty="0"/>
          </a:p>
        </p:txBody>
      </p:sp>
      <p:sp>
        <p:nvSpPr>
          <p:cNvPr id="25" name="Text 16"/>
          <p:cNvSpPr/>
          <p:nvPr/>
        </p:nvSpPr>
        <p:spPr>
          <a:xfrm>
            <a:off x="11405311" y="5504688"/>
            <a:ext cx="365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17"/>
          <p:cNvSpPr/>
          <p:nvPr/>
        </p:nvSpPr>
        <p:spPr>
          <a:xfrm>
            <a:off x="566928" y="6437376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InDiCo Global; InDiCo-Global Second Open Call Winners, 2026.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30" kern="0" dirty="0">
                <a:solidFill>
                  <a:srgbClr val="0D1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INDOTEL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66928" y="5166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estratégico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0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OASC: Ciudades Inteligentes Abiertas y Ágiles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566928" y="1234440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243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&amp; Agile Smart Cities and Communities es una red global de ciudades y comunidades.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980133" y="2048256"/>
            <a:ext cx="859536" cy="859536"/>
          </a:xfrm>
          <a:prstGeom prst="ellipse">
            <a:avLst/>
          </a:prstGeom>
          <a:solidFill>
            <a:srgbClr val="0B4489"/>
          </a:solidFill>
          <a:ln/>
        </p:spPr>
      </p:sp>
      <p:pic>
        <p:nvPicPr>
          <p:cNvPr id="7" name="Image 0" descr="/home/user/bolt.diy/presentaciones/indotel-ciudades-inteligentes/src/icons/s5_naturalez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1301" y="2249424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3108960"/>
            <a:ext cx="36859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43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Naturaleza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50976" y="3529584"/>
            <a:ext cx="291785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internacional con sede en Bruselas que conecta ciudades, regiones y comunidades para compartir soluciones digitales basadas en datos.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6080" y="2048256"/>
            <a:ext cx="859536" cy="859536"/>
          </a:xfrm>
          <a:prstGeom prst="ellipse">
            <a:avLst/>
          </a:prstGeom>
          <a:solidFill>
            <a:srgbClr val="0A2E7A"/>
          </a:solidFill>
          <a:ln/>
        </p:spPr>
      </p:sp>
      <p:pic>
        <p:nvPicPr>
          <p:cNvPr id="11" name="Image 1" descr="/home/user/bolt.diy/presentaciones/indotel-ciudades-inteligentes/src/icons/s5_tecni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248" y="2249424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52874" y="3108960"/>
            <a:ext cx="36859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43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técnico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36922" y="3529584"/>
            <a:ext cx="291785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 la interoperabilidad técnica, semántica, organizacional y legal, para que sistemas y datos puedan combinarse y reutilizarse.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252874" y="2103120"/>
            <a:ext cx="0" cy="2697480"/>
          </a:xfrm>
          <a:prstGeom prst="line">
            <a:avLst/>
          </a:prstGeom>
          <a:noFill/>
          <a:ln w="12700">
            <a:solidFill>
              <a:srgbClr val="CBD5E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352026" y="2048256"/>
            <a:ext cx="859536" cy="859536"/>
          </a:xfrm>
          <a:prstGeom prst="ellipse">
            <a:avLst/>
          </a:prstGeom>
          <a:solidFill>
            <a:srgbClr val="0E7A6B"/>
          </a:solidFill>
          <a:ln/>
        </p:spPr>
      </p:sp>
      <p:pic>
        <p:nvPicPr>
          <p:cNvPr id="16" name="Image 2" descr="/home/user/bolt.diy/presentaciones/indotel-ciudades-inteligentes/src/icons/s5_val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3194" y="2249424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38821" y="3108960"/>
            <a:ext cx="36859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43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público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22869" y="3529584"/>
            <a:ext cx="291785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evitar dependencia de proveedores, reducir costos, mejorar eficiencia y facilitar la réplica de soluciones entre ciudades.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938821" y="2103120"/>
            <a:ext cx="0" cy="2697480"/>
          </a:xfrm>
          <a:prstGeom prst="line">
            <a:avLst/>
          </a:prstGeom>
          <a:noFill/>
          <a:ln w="12700">
            <a:solidFill>
              <a:srgbClr val="CBD5E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344168" y="5029200"/>
            <a:ext cx="9503359" cy="868680"/>
          </a:xfrm>
          <a:prstGeom prst="roundRect">
            <a:avLst>
              <a:gd name="adj" fmla="val 7368"/>
            </a:avLst>
          </a:prstGeom>
          <a:solidFill>
            <a:srgbClr val="E4EDF9"/>
          </a:solidFill>
          <a:ln/>
        </p:spPr>
      </p:sp>
      <p:sp>
        <p:nvSpPr>
          <p:cNvPr id="21" name="Text 16"/>
          <p:cNvSpPr/>
          <p:nvPr/>
        </p:nvSpPr>
        <p:spPr>
          <a:xfrm>
            <a:off x="1572768" y="5029200"/>
            <a:ext cx="90461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243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OASC no vende una plataforma cerrada; impulsa reglas comunes</a:t>
            </a:r>
            <a:endParaRPr lang="en-US" sz="12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243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las plataformas municipales puedan comunicarse.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66928" y="6437376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OASC official site; Living-in.eu OASC partner profile.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11661343" y="6364224"/>
            <a:ext cx="310896" cy="310896"/>
          </a:xfrm>
          <a:prstGeom prst="rect">
            <a:avLst/>
          </a:prstGeom>
          <a:solidFill>
            <a:srgbClr val="0A2E7A"/>
          </a:solidFill>
          <a:ln/>
        </p:spPr>
      </p:sp>
      <p:sp>
        <p:nvSpPr>
          <p:cNvPr id="24" name="Text 19"/>
          <p:cNvSpPr/>
          <p:nvPr/>
        </p:nvSpPr>
        <p:spPr>
          <a:xfrm>
            <a:off x="11661343" y="6364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olt.diy/presentaciones/indotel-ciudades-inteligentes/src/derived/rooftop_sof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609344"/>
            <a:ext cx="7863840" cy="5248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30" kern="0" dirty="0">
                <a:solidFill>
                  <a:srgbClr val="0D1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INDOTEL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66928" y="5166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estratégico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0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opera OASC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566928" y="123444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243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organización combina gobernanza de ciudades, soporte técnico y participación en proyectos internacionales.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11661343" y="6364224"/>
            <a:ext cx="310896" cy="310896"/>
          </a:xfrm>
          <a:prstGeom prst="rect">
            <a:avLst/>
          </a:prstGeom>
          <a:solidFill>
            <a:srgbClr val="0A2E7A"/>
          </a:solidFill>
          <a:ln/>
        </p:spPr>
      </p:sp>
      <p:sp>
        <p:nvSpPr>
          <p:cNvPr id="8" name="Text 5"/>
          <p:cNvSpPr/>
          <p:nvPr/>
        </p:nvSpPr>
        <p:spPr>
          <a:xfrm>
            <a:off x="11661343" y="6364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66928" y="2011680"/>
            <a:ext cx="420624" cy="420624"/>
          </a:xfrm>
          <a:prstGeom prst="roundRect">
            <a:avLst>
              <a:gd name="adj" fmla="val 23913"/>
            </a:avLst>
          </a:prstGeom>
          <a:solidFill>
            <a:srgbClr val="0B4489"/>
          </a:solidFill>
          <a:ln/>
        </p:spPr>
      </p:sp>
      <p:pic>
        <p:nvPicPr>
          <p:cNvPr id="10" name="Image 1" descr="/home/user/bolt.diy/presentaciones/indotel-ciudades-inteligentes/src/icons/s6_gobernanz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72" y="2108424"/>
            <a:ext cx="227137" cy="22713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61872" y="1965960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261872" y="2240280"/>
            <a:ext cx="4700016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Consejo de Ciudades, órgano de gobierno y Consejo Tecnológico para validar el rumbo y la adopción de MIMs.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66928" y="2965704"/>
            <a:ext cx="420624" cy="420624"/>
          </a:xfrm>
          <a:prstGeom prst="roundRect">
            <a:avLst>
              <a:gd name="adj" fmla="val 23913"/>
            </a:avLst>
          </a:prstGeom>
          <a:solidFill>
            <a:srgbClr val="0B4489"/>
          </a:solidFill>
          <a:ln/>
        </p:spPr>
      </p:sp>
      <p:pic>
        <p:nvPicPr>
          <p:cNvPr id="14" name="Image 2" descr="/home/user/bolt.diy/presentaciones/indotel-ciudades-inteligentes/src/icons/s6_servicio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2" y="3062448"/>
            <a:ext cx="227137" cy="22713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61872" y="2919984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261872" y="3194304"/>
            <a:ext cx="4700016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Conocimiento, proyectos, herramientas técnicas, apoyo a miembros, capacitación y espacios de colaboración.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66928" y="3919728"/>
            <a:ext cx="420624" cy="420624"/>
          </a:xfrm>
          <a:prstGeom prst="roundRect">
            <a:avLst>
              <a:gd name="adj" fmla="val 23913"/>
            </a:avLst>
          </a:prstGeom>
          <a:solidFill>
            <a:srgbClr val="0B4489"/>
          </a:solidFill>
          <a:ln/>
        </p:spPr>
      </p:sp>
      <p:pic>
        <p:nvPicPr>
          <p:cNvPr id="18" name="Image 3" descr="/home/user/bolt.diy/presentaciones/indotel-ciudades-inteligentes/src/icons/s6_proyecto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672" y="4016472"/>
            <a:ext cx="227137" cy="22713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61872" y="3874008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261872" y="4148328"/>
            <a:ext cx="4700016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 en iniciativas de datos, gemelos digitales, CitiVerse, ciberseguridad, movilidad y ciudades inteligentes.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66928" y="4873752"/>
            <a:ext cx="420624" cy="420624"/>
          </a:xfrm>
          <a:prstGeom prst="roundRect">
            <a:avLst>
              <a:gd name="adj" fmla="val 23913"/>
            </a:avLst>
          </a:prstGeom>
          <a:solidFill>
            <a:srgbClr val="0B4489"/>
          </a:solidFill>
          <a:ln/>
        </p:spPr>
      </p:sp>
      <p:pic>
        <p:nvPicPr>
          <p:cNvPr id="22" name="Image 4" descr="/home/user/bolt.diy/presentaciones/indotel-ciudades-inteligentes/src/icons/s6_itu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672" y="4970496"/>
            <a:ext cx="227137" cy="22713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61872" y="4828032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ITU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1261872" y="5102352"/>
            <a:ext cx="4700016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2024 OASC y la UIT firmaron cooperación para llevar la voz de ciudades y comunidades a tecnologías emergentes.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30" kern="0" dirty="0">
                <a:solidFill>
                  <a:srgbClr val="0D1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INDOTEL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66928" y="5166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estratégico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concepto central de OASC: Mecanismos Mínimos de Interoperabilidad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243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Interoperability Mechanisms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89320" y="1828800"/>
            <a:ext cx="0" cy="3200400"/>
          </a:xfrm>
          <a:prstGeom prst="line">
            <a:avLst/>
          </a:prstGeom>
          <a:noFill/>
          <a:ln w="12700">
            <a:solidFill>
              <a:srgbClr val="CBD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82880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3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resuelven?</a:t>
            </a:r>
            <a:endParaRPr lang="en-US" sz="1350" dirty="0"/>
          </a:p>
        </p:txBody>
      </p:sp>
      <p:pic>
        <p:nvPicPr>
          <p:cNvPr id="8" name="Image 0" descr="/home/user/bolt.diy/presentaciones/indotel-ciudades-inteligentes/src/icons/check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368296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2295144"/>
            <a:ext cx="4517136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Permiten un nivel mínimo y suficiente de interoperabilidad entre datos, sistemas y servicios.</a:t>
            </a:r>
            <a:endParaRPr lang="en-US" sz="1100" dirty="0"/>
          </a:p>
        </p:txBody>
      </p:sp>
      <p:pic>
        <p:nvPicPr>
          <p:cNvPr id="10" name="Image 1" descr="/home/user/bolt.diy/presentaciones/indotel-ciudades-inteligentes/src/icons/check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981960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77824" y="2908808"/>
            <a:ext cx="4517136" cy="28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Combinan soluciones técnicas y no técnicas.</a:t>
            </a:r>
            <a:endParaRPr lang="en-US" sz="1100" dirty="0"/>
          </a:p>
        </p:txBody>
      </p:sp>
      <p:pic>
        <p:nvPicPr>
          <p:cNvPr id="12" name="Image 2" descr="/home/user/bolt.diy/presentaciones/indotel-ciudades-inteligentes/src/icons/check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416808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77824" y="3343656"/>
            <a:ext cx="4517136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Ayudan a que las inversiones digitales sean más futuras y menos dependientes de un proveedor.</a:t>
            </a:r>
            <a:endParaRPr lang="en-US" sz="1100" dirty="0"/>
          </a:p>
        </p:txBody>
      </p:sp>
      <p:pic>
        <p:nvPicPr>
          <p:cNvPr id="14" name="Image 3" descr="/home/user/bolt.diy/presentaciones/indotel-ciudades-inteligentes/src/icons/check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030472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77824" y="3957320"/>
            <a:ext cx="4517136" cy="28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Mejoran la cooperación entre departamentos y servicios públicos.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355080" y="182880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3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para INDOTEL</a:t>
            </a:r>
            <a:endParaRPr lang="en-US" sz="1350" dirty="0"/>
          </a:p>
        </p:txBody>
      </p:sp>
      <p:pic>
        <p:nvPicPr>
          <p:cNvPr id="17" name="Image 4" descr="/home/user/bolt.diy/presentaciones/indotel-ciudades-inteligentes/src/icons/check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368296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665976" y="2295144"/>
            <a:ext cx="4517136" cy="28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municipio no debe comprar sistemas aislados.</a:t>
            </a:r>
            <a:endParaRPr lang="en-US" sz="1100" dirty="0"/>
          </a:p>
        </p:txBody>
      </p:sp>
      <p:pic>
        <p:nvPicPr>
          <p:cNvPr id="19" name="Image 5" descr="/home/user/bolt.diy/presentaciones/indotel-ciudades-inteligentes/src/icons/check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803144"/>
            <a:ext cx="182880" cy="18288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665976" y="2729992"/>
            <a:ext cx="4517136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de movilidad, ambiente, permisos, seguridad y conectividad deben poder integrarse.</a:t>
            </a:r>
            <a:endParaRPr lang="en-US" sz="1100" dirty="0"/>
          </a:p>
        </p:txBody>
      </p:sp>
      <p:pic>
        <p:nvPicPr>
          <p:cNvPr id="21" name="Image 6" descr="/home/user/bolt.diy/presentaciones/indotel-ciudades-inteligentes/src/icons/check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3416808"/>
            <a:ext cx="182880" cy="18288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665976" y="3343656"/>
            <a:ext cx="4517136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INDOTEL puede promover lenguaje común, guías técnicas y criterios mínimos para proyectos municipales.</a:t>
            </a:r>
            <a:endParaRPr lang="en-US" sz="1100" dirty="0"/>
          </a:p>
        </p:txBody>
      </p:sp>
      <p:sp>
        <p:nvSpPr>
          <p:cNvPr id="23" name="Shape 14"/>
          <p:cNvSpPr/>
          <p:nvPr/>
        </p:nvSpPr>
        <p:spPr>
          <a:xfrm>
            <a:off x="566928" y="5230368"/>
            <a:ext cx="11057839" cy="868680"/>
          </a:xfrm>
          <a:prstGeom prst="roundRect">
            <a:avLst>
              <a:gd name="adj" fmla="val 7368"/>
            </a:avLst>
          </a:prstGeom>
          <a:solidFill>
            <a:srgbClr val="E4EDF9"/>
          </a:solidFill>
          <a:ln/>
        </p:spPr>
      </p:sp>
      <p:sp>
        <p:nvSpPr>
          <p:cNvPr id="24" name="Shape 15"/>
          <p:cNvSpPr/>
          <p:nvPr/>
        </p:nvSpPr>
        <p:spPr>
          <a:xfrm>
            <a:off x="896112" y="5458968"/>
            <a:ext cx="420624" cy="420624"/>
          </a:xfrm>
          <a:prstGeom prst="ellipse">
            <a:avLst/>
          </a:prstGeom>
          <a:solidFill>
            <a:srgbClr val="0B4489"/>
          </a:solidFill>
          <a:ln/>
        </p:spPr>
      </p:sp>
      <p:pic>
        <p:nvPicPr>
          <p:cNvPr id="25" name="Image 7" descr="/home/user/bolt.diy/presentaciones/indotel-ciudades-inteligentes/src/icons/quote_shie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5568696"/>
            <a:ext cx="201168" cy="20116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499616" y="5230368"/>
            <a:ext cx="977767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243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“Los MIMs convierten la ciudad inteligente en gestión pública más eficiente,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243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 tecnología aislada.”</a:t>
            </a:r>
            <a:endParaRPr lang="en-US" sz="1250" dirty="0"/>
          </a:p>
        </p:txBody>
      </p:sp>
      <p:sp>
        <p:nvSpPr>
          <p:cNvPr id="27" name="Text 17"/>
          <p:cNvSpPr/>
          <p:nvPr/>
        </p:nvSpPr>
        <p:spPr>
          <a:xfrm>
            <a:off x="566928" y="6437376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OASC MIMs concept and materials.</a:t>
            </a:r>
            <a:endParaRPr lang="en-US" sz="850" dirty="0"/>
          </a:p>
        </p:txBody>
      </p:sp>
      <p:sp>
        <p:nvSpPr>
          <p:cNvPr id="28" name="Shape 18"/>
          <p:cNvSpPr/>
          <p:nvPr/>
        </p:nvSpPr>
        <p:spPr>
          <a:xfrm>
            <a:off x="11661343" y="6364224"/>
            <a:ext cx="310896" cy="310896"/>
          </a:xfrm>
          <a:prstGeom prst="rect">
            <a:avLst/>
          </a:prstGeom>
          <a:solidFill>
            <a:srgbClr val="0A2E7A"/>
          </a:solidFill>
          <a:ln/>
        </p:spPr>
      </p:sp>
      <p:sp>
        <p:nvSpPr>
          <p:cNvPr id="29" name="Text 19"/>
          <p:cNvSpPr/>
          <p:nvPr/>
        </p:nvSpPr>
        <p:spPr>
          <a:xfrm>
            <a:off x="11661343" y="6364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30" kern="0" dirty="0">
                <a:solidFill>
                  <a:srgbClr val="0D1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INDOTEL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66928" y="5166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estratégico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0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opera OASC?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566928" y="1234440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243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Gobernanza, conocimiento y proyectos para ciudades más inteligentes.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661343" y="6364224"/>
            <a:ext cx="310896" cy="310896"/>
          </a:xfrm>
          <a:prstGeom prst="rect">
            <a:avLst/>
          </a:prstGeom>
          <a:solidFill>
            <a:srgbClr val="0A2E7A"/>
          </a:solidFill>
          <a:ln/>
        </p:spPr>
      </p:sp>
      <p:sp>
        <p:nvSpPr>
          <p:cNvPr id="7" name="Text 5"/>
          <p:cNvSpPr/>
          <p:nvPr/>
        </p:nvSpPr>
        <p:spPr>
          <a:xfrm>
            <a:off x="11661343" y="6364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8" name="Image 0" descr="/home/user/bolt.diy/presentaciones/indotel-ciudades-inteligentes/src/icons/s8_gobernanz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238" y="2331720"/>
            <a:ext cx="1005840" cy="1005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3611880"/>
            <a:ext cx="2764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90" kern="0" dirty="0">
                <a:solidFill>
                  <a:srgbClr val="243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9536" y="4041648"/>
            <a:ext cx="21792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Consejo de Ciudades y Consejo Tecnológico para validar el rumbo y estándares (MIMs).</a:t>
            </a:r>
            <a:endParaRPr lang="en-US" sz="1150" dirty="0"/>
          </a:p>
        </p:txBody>
      </p:sp>
      <p:pic>
        <p:nvPicPr>
          <p:cNvPr id="11" name="Image 1" descr="/home/user/bolt.diy/presentaciones/indotel-ciudades-inteligentes/src/icons/s8_servici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698" y="2331720"/>
            <a:ext cx="1005840" cy="10058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1388" y="3611880"/>
            <a:ext cx="2764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90" kern="0" dirty="0">
                <a:solidFill>
                  <a:srgbClr val="243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23996" y="4041648"/>
            <a:ext cx="21792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Conocimiento, herramientas técnicas, capacitación y apoyo continuo a municipios.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331388" y="2395728"/>
            <a:ext cx="0" cy="2926080"/>
          </a:xfrm>
          <a:prstGeom prst="line">
            <a:avLst/>
          </a:prstGeom>
          <a:noFill/>
          <a:ln w="12700">
            <a:solidFill>
              <a:srgbClr val="CBD5E4"/>
            </a:solidFill>
            <a:prstDash val="solid"/>
          </a:ln>
        </p:spPr>
      </p:sp>
      <p:pic>
        <p:nvPicPr>
          <p:cNvPr id="15" name="Image 2" descr="/home/user/bolt.diy/presentaciones/indotel-ciudades-inteligentes/src/icons/s8_proyecto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5158" y="2331720"/>
            <a:ext cx="1005840" cy="10058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95848" y="3611880"/>
            <a:ext cx="2764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90" kern="0" dirty="0">
                <a:solidFill>
                  <a:srgbClr val="243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388456" y="4041648"/>
            <a:ext cx="21792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Iniciativas en datos, gemelos digitales, movilidad, ciberseguridad, CitiVerse y más.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095848" y="2395728"/>
            <a:ext cx="0" cy="2926080"/>
          </a:xfrm>
          <a:prstGeom prst="line">
            <a:avLst/>
          </a:prstGeom>
          <a:noFill/>
          <a:ln w="12700">
            <a:solidFill>
              <a:srgbClr val="CBD5E4"/>
            </a:solidFill>
            <a:prstDash val="solid"/>
          </a:ln>
        </p:spPr>
      </p:sp>
      <p:pic>
        <p:nvPicPr>
          <p:cNvPr id="19" name="Image 3" descr="/home/user/bolt.diy/presentaciones/indotel-ciudades-inteligentes/src/icons/s8_alianza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9617" y="2331720"/>
            <a:ext cx="1005840" cy="10058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860307" y="3611880"/>
            <a:ext cx="2764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90" kern="0" dirty="0">
                <a:solidFill>
                  <a:srgbClr val="243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ALIANZAS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9152915" y="4041648"/>
            <a:ext cx="21792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Cooperación con ITU y actores globales para llevar la voz de las ciudades a tecnologías emergentes.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8860307" y="2395728"/>
            <a:ext cx="0" cy="2926080"/>
          </a:xfrm>
          <a:prstGeom prst="line">
            <a:avLst/>
          </a:prstGeom>
          <a:noFill/>
          <a:ln w="12700">
            <a:solidFill>
              <a:srgbClr val="CBD5E4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olt.diy/presentaciones/indotel-ciudades-inteligentes/src/derived/mims_sof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1719072"/>
            <a:ext cx="7040880" cy="4700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30" kern="0" dirty="0">
                <a:solidFill>
                  <a:srgbClr val="0D1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INDOTEL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66928" y="5166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estratégico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0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concepto clave: MIMs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566928" y="1234440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243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Mecanismos Mínimos de Interoperabilidad. La base para ciudades que se entienden.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11661343" y="6364224"/>
            <a:ext cx="310896" cy="310896"/>
          </a:xfrm>
          <a:prstGeom prst="rect">
            <a:avLst/>
          </a:prstGeom>
          <a:solidFill>
            <a:srgbClr val="0A2E7A"/>
          </a:solidFill>
          <a:ln/>
        </p:spPr>
      </p:sp>
      <p:sp>
        <p:nvSpPr>
          <p:cNvPr id="8" name="Text 5"/>
          <p:cNvSpPr/>
          <p:nvPr/>
        </p:nvSpPr>
        <p:spPr>
          <a:xfrm>
            <a:off x="11661343" y="6364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9" name="Image 1" descr="/home/user/bolt.diy/presentaciones/indotel-ciudades-inteligentes/src/icons/check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514600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0" y="2441448"/>
            <a:ext cx="3840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mínimo y suficiente de interoperabilidad.</a:t>
            </a:r>
            <a:endParaRPr lang="en-US" sz="1200" dirty="0"/>
          </a:p>
        </p:txBody>
      </p:sp>
      <p:pic>
        <p:nvPicPr>
          <p:cNvPr id="11" name="Image 2" descr="/home/user/bolt.diy/presentaciones/indotel-ciudades-inteligentes/src/icons/chec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212592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72400" y="3139440"/>
            <a:ext cx="3840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técnicas y no técnicas.</a:t>
            </a:r>
            <a:endParaRPr lang="en-US" sz="1200" dirty="0"/>
          </a:p>
        </p:txBody>
      </p:sp>
      <p:pic>
        <p:nvPicPr>
          <p:cNvPr id="13" name="Image 3" descr="/home/user/bolt.diy/presentaciones/indotel-ciudades-inteligentes/src/icons/check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3910584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0" y="3837432"/>
            <a:ext cx="3840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Inversiones más futuras y menos dependientes.</a:t>
            </a:r>
            <a:endParaRPr lang="en-US" sz="1200" dirty="0"/>
          </a:p>
        </p:txBody>
      </p:sp>
      <p:pic>
        <p:nvPicPr>
          <p:cNvPr id="15" name="Image 4" descr="/home/user/bolt.diy/presentaciones/indotel-ciudades-inteligentes/src/icons/check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4608576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772400" y="4535424"/>
            <a:ext cx="3840480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común, guías y criterios mínimos para todos los municipios.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30" kern="0" dirty="0">
                <a:solidFill>
                  <a:srgbClr val="0D1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INDOTEL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66928" y="5166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estratégico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0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 INDOTEL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566928" y="1234440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243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cooperación a la transformación nacional.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661343" y="6364224"/>
            <a:ext cx="310896" cy="310896"/>
          </a:xfrm>
          <a:prstGeom prst="rect">
            <a:avLst/>
          </a:prstGeom>
          <a:solidFill>
            <a:srgbClr val="0A2E7A"/>
          </a:solidFill>
          <a:ln/>
        </p:spPr>
      </p:sp>
      <p:sp>
        <p:nvSpPr>
          <p:cNvPr id="7" name="Text 5"/>
          <p:cNvSpPr/>
          <p:nvPr/>
        </p:nvSpPr>
        <p:spPr>
          <a:xfrm>
            <a:off x="11661343" y="6364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3072384"/>
            <a:ext cx="703448" cy="0"/>
          </a:xfrm>
          <a:prstGeom prst="line">
            <a:avLst/>
          </a:prstGeom>
          <a:noFill/>
          <a:ln w="19050">
            <a:solidFill>
              <a:srgbClr val="8FA9C6"/>
            </a:solidFill>
            <a:prstDash val="solid"/>
            <a:headEnd type="triangle"/>
          </a:ln>
        </p:spPr>
      </p:sp>
      <p:sp>
        <p:nvSpPr>
          <p:cNvPr id="9" name="Shape 7"/>
          <p:cNvSpPr/>
          <p:nvPr/>
        </p:nvSpPr>
        <p:spPr>
          <a:xfrm>
            <a:off x="10921319" y="3072384"/>
            <a:ext cx="703448" cy="0"/>
          </a:xfrm>
          <a:prstGeom prst="line">
            <a:avLst/>
          </a:prstGeom>
          <a:noFill/>
          <a:ln w="19050">
            <a:solidFill>
              <a:srgbClr val="8FA9C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075048" y="3072384"/>
            <a:ext cx="1406896" cy="0"/>
          </a:xfrm>
          <a:prstGeom prst="line">
            <a:avLst/>
          </a:prstGeom>
          <a:noFill/>
          <a:ln w="19050">
            <a:solidFill>
              <a:srgbClr val="8FA9C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86616" y="3072384"/>
            <a:ext cx="1406896" cy="0"/>
          </a:xfrm>
          <a:prstGeom prst="line">
            <a:avLst/>
          </a:prstGeom>
          <a:noFill/>
          <a:ln w="19050">
            <a:solidFill>
              <a:srgbClr val="8FA9C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98184" y="3072384"/>
            <a:ext cx="1406896" cy="0"/>
          </a:xfrm>
          <a:prstGeom prst="line">
            <a:avLst/>
          </a:prstGeom>
          <a:noFill/>
          <a:ln w="19050">
            <a:solidFill>
              <a:srgbClr val="8FA9C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709751" y="3072384"/>
            <a:ext cx="1406896" cy="0"/>
          </a:xfrm>
          <a:prstGeom prst="line">
            <a:avLst/>
          </a:prstGeom>
          <a:noFill/>
          <a:ln w="19050">
            <a:solidFill>
              <a:srgbClr val="8FA9C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270376" y="2670048"/>
            <a:ext cx="804672" cy="804672"/>
          </a:xfrm>
          <a:prstGeom prst="ellipse">
            <a:avLst/>
          </a:prstGeom>
          <a:solidFill>
            <a:srgbClr val="0A2456"/>
          </a:solidFill>
          <a:ln/>
        </p:spPr>
      </p:sp>
      <p:sp>
        <p:nvSpPr>
          <p:cNvPr id="15" name="Text 13"/>
          <p:cNvSpPr/>
          <p:nvPr/>
        </p:nvSpPr>
        <p:spPr>
          <a:xfrm>
            <a:off x="1270376" y="267004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66928" y="3767328"/>
            <a:ext cx="221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70" kern="0" dirty="0">
                <a:solidFill>
                  <a:srgbClr val="243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86384" y="4206240"/>
            <a:ext cx="1772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Evaluamos madurez digital municipal con LORDIMAS e ITU.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81944" y="2670048"/>
            <a:ext cx="804672" cy="804672"/>
          </a:xfrm>
          <a:prstGeom prst="ellipse">
            <a:avLst/>
          </a:prstGeom>
          <a:solidFill>
            <a:srgbClr val="0A3070"/>
          </a:solidFill>
          <a:ln/>
        </p:spPr>
      </p:sp>
      <p:sp>
        <p:nvSpPr>
          <p:cNvPr id="19" name="Text 17"/>
          <p:cNvSpPr/>
          <p:nvPr/>
        </p:nvSpPr>
        <p:spPr>
          <a:xfrm>
            <a:off x="3481944" y="267004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2778496" y="3767328"/>
            <a:ext cx="221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70" kern="0" dirty="0">
                <a:solidFill>
                  <a:srgbClr val="243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997952" y="4206240"/>
            <a:ext cx="1772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Definimos MIMs, guías y arquitectura nacional.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78496" y="3639312"/>
            <a:ext cx="0" cy="1874520"/>
          </a:xfrm>
          <a:prstGeom prst="line">
            <a:avLst/>
          </a:prstGeom>
          <a:noFill/>
          <a:ln w="12700">
            <a:solidFill>
              <a:srgbClr val="CBD5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93512" y="2670048"/>
            <a:ext cx="804672" cy="804672"/>
          </a:xfrm>
          <a:prstGeom prst="ellipse">
            <a:avLst/>
          </a:prstGeom>
          <a:solidFill>
            <a:srgbClr val="0C4088"/>
          </a:solidFill>
          <a:ln/>
        </p:spPr>
      </p:sp>
      <p:sp>
        <p:nvSpPr>
          <p:cNvPr id="24" name="Text 22"/>
          <p:cNvSpPr/>
          <p:nvPr/>
        </p:nvSpPr>
        <p:spPr>
          <a:xfrm>
            <a:off x="5693512" y="267004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990064" y="3767328"/>
            <a:ext cx="221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70" kern="0" dirty="0">
                <a:solidFill>
                  <a:srgbClr val="243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209520" y="4206240"/>
            <a:ext cx="1772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Formamos equipos y acompañamos a municipios.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990064" y="3639312"/>
            <a:ext cx="0" cy="1874520"/>
          </a:xfrm>
          <a:prstGeom prst="line">
            <a:avLst/>
          </a:prstGeom>
          <a:noFill/>
          <a:ln w="12700">
            <a:solidFill>
              <a:srgbClr val="CBD5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05079" y="2670048"/>
            <a:ext cx="804672" cy="804672"/>
          </a:xfrm>
          <a:prstGeom prst="ellipse">
            <a:avLst/>
          </a:prstGeom>
          <a:solidFill>
            <a:srgbClr val="1055A8"/>
          </a:solidFill>
          <a:ln/>
        </p:spPr>
      </p:sp>
      <p:sp>
        <p:nvSpPr>
          <p:cNvPr id="29" name="Text 27"/>
          <p:cNvSpPr/>
          <p:nvPr/>
        </p:nvSpPr>
        <p:spPr>
          <a:xfrm>
            <a:off x="7905079" y="267004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201632" y="3767328"/>
            <a:ext cx="221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70" kern="0" dirty="0">
                <a:solidFill>
                  <a:srgbClr val="243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421088" y="4206240"/>
            <a:ext cx="1772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Desplegamos casos prioritarios con impacto rápido.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201632" y="3639312"/>
            <a:ext cx="0" cy="1874520"/>
          </a:xfrm>
          <a:prstGeom prst="line">
            <a:avLst/>
          </a:prstGeom>
          <a:noFill/>
          <a:ln w="12700">
            <a:solidFill>
              <a:srgbClr val="CBD5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116647" y="2670048"/>
            <a:ext cx="804672" cy="804672"/>
          </a:xfrm>
          <a:prstGeom prst="ellipse">
            <a:avLst/>
          </a:prstGeom>
          <a:solidFill>
            <a:srgbClr val="2E86D8"/>
          </a:solidFill>
          <a:ln/>
        </p:spPr>
      </p:sp>
      <p:sp>
        <p:nvSpPr>
          <p:cNvPr id="34" name="Text 32"/>
          <p:cNvSpPr/>
          <p:nvPr/>
        </p:nvSpPr>
        <p:spPr>
          <a:xfrm>
            <a:off x="10116647" y="267004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9413199" y="3767328"/>
            <a:ext cx="221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70" kern="0" dirty="0">
                <a:solidFill>
                  <a:srgbClr val="243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632655" y="4206240"/>
            <a:ext cx="1772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B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Medimos resultados con KPIs U4SSC y mejora continua.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413199" y="3639312"/>
            <a:ext cx="0" cy="1874520"/>
          </a:xfrm>
          <a:prstGeom prst="line">
            <a:avLst/>
          </a:prstGeom>
          <a:noFill/>
          <a:ln w="12700">
            <a:solidFill>
              <a:srgbClr val="CBD5E4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1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73F"/>
          </a:solidFill>
          <a:ln/>
        </p:spPr>
      </p:sp>
      <p:pic>
        <p:nvPicPr>
          <p:cNvPr id="3" name="Image 0" descr="/home/user/bolt.diy/presentaciones/indotel-ciudades-inteligentes/src/derived/couple_sof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0"/>
            <a:ext cx="5486400" cy="68397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INDOTEL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66928" y="5166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3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estratégico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66928" y="1572768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para la ciudadanía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66928" y="22128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Mejores servicios. Mejor calidad de vida.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66928" y="2907792"/>
            <a:ext cx="1371600" cy="41148"/>
          </a:xfrm>
          <a:prstGeom prst="rect">
            <a:avLst/>
          </a:prstGeom>
          <a:solidFill>
            <a:srgbClr val="3AA0F5"/>
          </a:solidFill>
          <a:ln/>
        </p:spPr>
      </p:sp>
      <p:pic>
        <p:nvPicPr>
          <p:cNvPr id="9" name="Image 1" descr="/home/user/bolt.diy/presentaciones/indotel-ciudades-inteligentes/src/icons/s11_sal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582" y="3529584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4360" y="4114800"/>
            <a:ext cx="9433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</a:t>
            </a:r>
            <a:endParaRPr lang="en-US" sz="9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950" dirty="0"/>
          </a:p>
        </p:txBody>
      </p:sp>
      <p:pic>
        <p:nvPicPr>
          <p:cNvPr id="11" name="Image 2" descr="/home/user/bolt.diy/presentaciones/indotel-ciudades-inteligentes/src/icons/s11_movilid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802" y="3529584"/>
            <a:ext cx="438912" cy="4389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92580" y="4114800"/>
            <a:ext cx="9433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Movilidad</a:t>
            </a:r>
            <a:endParaRPr lang="en-US" sz="9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inteligente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1565148" y="3456432"/>
            <a:ext cx="0" cy="137160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14" name="Image 3" descr="/home/user/bolt.diy/presentaciones/indotel-ciudades-inteligentes/src/icons/s11_segurid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022" y="3529584"/>
            <a:ext cx="438912" cy="4389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590800" y="4114800"/>
            <a:ext cx="9433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9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ciudadana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2563368" y="3456432"/>
            <a:ext cx="0" cy="137160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17" name="Image 4" descr="/home/user/bolt.diy/presentaciones/indotel-ciudades-inteligentes/src/icons/s11_alumbrad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1242" y="3529584"/>
            <a:ext cx="438912" cy="43891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589020" y="4114800"/>
            <a:ext cx="9433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Alumbrado</a:t>
            </a:r>
            <a:endParaRPr lang="en-US" sz="9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eficiente</a:t>
            </a:r>
            <a:endParaRPr lang="en-US" sz="950" dirty="0"/>
          </a:p>
        </p:txBody>
      </p:sp>
      <p:sp>
        <p:nvSpPr>
          <p:cNvPr id="19" name="Shape 12"/>
          <p:cNvSpPr/>
          <p:nvPr/>
        </p:nvSpPr>
        <p:spPr>
          <a:xfrm>
            <a:off x="3561588" y="3456432"/>
            <a:ext cx="0" cy="137160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20" name="Image 5" descr="/home/user/bolt.diy/presentaciones/indotel-ciudades-inteligentes/src/icons/s11_ambien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9462" y="3529584"/>
            <a:ext cx="438912" cy="43891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587240" y="4114800"/>
            <a:ext cx="9433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 ambiente</a:t>
            </a:r>
            <a:endParaRPr lang="en-US" sz="9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sostenible</a:t>
            </a:r>
            <a:endParaRPr lang="en-US" sz="950" dirty="0"/>
          </a:p>
        </p:txBody>
      </p:sp>
      <p:sp>
        <p:nvSpPr>
          <p:cNvPr id="22" name="Shape 14"/>
          <p:cNvSpPr/>
          <p:nvPr/>
        </p:nvSpPr>
        <p:spPr>
          <a:xfrm>
            <a:off x="4559808" y="3456432"/>
            <a:ext cx="0" cy="137160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23" name="Image 6" descr="/home/user/bolt.diy/presentaciones/indotel-ciudades-inteligentes/src/icons/s11_digit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7682" y="3529584"/>
            <a:ext cx="438912" cy="43891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585460" y="4114800"/>
            <a:ext cx="9433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9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24/7</a:t>
            </a:r>
            <a:endParaRPr lang="en-US" sz="950" dirty="0"/>
          </a:p>
        </p:txBody>
      </p:sp>
      <p:sp>
        <p:nvSpPr>
          <p:cNvPr id="25" name="Shape 16"/>
          <p:cNvSpPr/>
          <p:nvPr/>
        </p:nvSpPr>
        <p:spPr>
          <a:xfrm>
            <a:off x="5558028" y="3456432"/>
            <a:ext cx="0" cy="137160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6" name="Shape 17"/>
          <p:cNvSpPr/>
          <p:nvPr/>
        </p:nvSpPr>
        <p:spPr>
          <a:xfrm>
            <a:off x="11661343" y="6364224"/>
            <a:ext cx="310896" cy="310896"/>
          </a:xfrm>
          <a:prstGeom prst="rect">
            <a:avLst/>
          </a:prstGeom>
          <a:solidFill>
            <a:srgbClr val="1268C4"/>
          </a:solidFill>
          <a:ln/>
        </p:spPr>
      </p:sp>
      <p:sp>
        <p:nvSpPr>
          <p:cNvPr id="27" name="Text 18"/>
          <p:cNvSpPr/>
          <p:nvPr/>
        </p:nvSpPr>
        <p:spPr>
          <a:xfrm>
            <a:off x="11661343" y="6364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1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olt.diy/presentaciones/indotel-ciudades-inteligentes/src/derived/city_dar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2148840"/>
            <a:ext cx="12191695" cy="4709160"/>
          </a:xfrm>
          <a:prstGeom prst="rect">
            <a:avLst/>
          </a:prstGeom>
        </p:spPr>
      </p:pic>
      <p:pic>
        <p:nvPicPr>
          <p:cNvPr id="3" name="Image 1" descr="/home/user/bolt.diy/presentaciones/indotel-ciudades-inteligentes/src/derived/veil_clo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INDOTEL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566928" y="5166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3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estratégico</a:t>
            </a:r>
            <a:endParaRPr lang="en-US" sz="950" dirty="0"/>
          </a:p>
        </p:txBody>
      </p:sp>
      <p:sp>
        <p:nvSpPr>
          <p:cNvPr id="6" name="Text 2"/>
          <p:cNvSpPr/>
          <p:nvPr/>
        </p:nvSpPr>
        <p:spPr>
          <a:xfrm>
            <a:off x="566928" y="12070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estratégica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566928" y="1645920"/>
            <a:ext cx="7635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 para convertir esta cooperación en un instrumento permanente del INDOTEL.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566928" y="3456432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ciudades conectadas. Más datos que generan valor.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Mejores decisiones. Un país que avanza.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8522208" y="1188720"/>
            <a:ext cx="0" cy="3977640"/>
          </a:xfrm>
          <a:prstGeom prst="line">
            <a:avLst/>
          </a:prstGeom>
          <a:noFill/>
          <a:ln w="12700">
            <a:solidFill>
              <a:srgbClr val="FFFFFF">
                <a:alpha val="34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006840" y="15727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spc="1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INDOTEL</a:t>
            </a:r>
            <a:endParaRPr lang="en-US" sz="2900" dirty="0"/>
          </a:p>
        </p:txBody>
      </p:sp>
      <p:sp>
        <p:nvSpPr>
          <p:cNvPr id="11" name="Text 7"/>
          <p:cNvSpPr/>
          <p:nvPr/>
        </p:nvSpPr>
        <p:spPr>
          <a:xfrm>
            <a:off x="9006840" y="2231136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Lideramos la transformación digital de los municipios dominicanos.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9006840" y="354787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3000" dirty="0"/>
          </a:p>
        </p:txBody>
      </p:sp>
      <p:sp>
        <p:nvSpPr>
          <p:cNvPr id="13" name="Shape 9"/>
          <p:cNvSpPr/>
          <p:nvPr/>
        </p:nvSpPr>
        <p:spPr>
          <a:xfrm>
            <a:off x="9006840" y="4169664"/>
            <a:ext cx="960120" cy="45720"/>
          </a:xfrm>
          <a:prstGeom prst="rect">
            <a:avLst/>
          </a:prstGeom>
          <a:solidFill>
            <a:srgbClr val="3AA0F5"/>
          </a:solidFill>
          <a:ln/>
        </p:spPr>
      </p:sp>
      <p:sp>
        <p:nvSpPr>
          <p:cNvPr id="14" name="Shape 10"/>
          <p:cNvSpPr/>
          <p:nvPr/>
        </p:nvSpPr>
        <p:spPr>
          <a:xfrm>
            <a:off x="11661343" y="6364224"/>
            <a:ext cx="310896" cy="310896"/>
          </a:xfrm>
          <a:prstGeom prst="rect">
            <a:avLst/>
          </a:prstGeom>
          <a:solidFill>
            <a:srgbClr val="1268C4"/>
          </a:solidFill>
          <a:ln/>
        </p:spPr>
      </p:sp>
      <p:sp>
        <p:nvSpPr>
          <p:cNvPr id="15" name="Text 11"/>
          <p:cNvSpPr/>
          <p:nvPr/>
        </p:nvSpPr>
        <p:spPr>
          <a:xfrm>
            <a:off x="11661343" y="6364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Instituto Dominicano de las Telecomunicaciones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Estrategia Nacional de Ciudades Inteligentes</dc:title>
  <dc:subject>Instrumento Estratégico INDOTEL — InDiCo Global / OASC / U4SSC</dc:subject>
  <dc:creator>INDOTEL</dc:creator>
  <cp:lastModifiedBy>INDOTEL</cp:lastModifiedBy>
  <cp:revision>1</cp:revision>
  <dcterms:created xsi:type="dcterms:W3CDTF">2026-08-07T15:10:11Z</dcterms:created>
  <dcterms:modified xsi:type="dcterms:W3CDTF">2026-08-07T15:10:11Z</dcterms:modified>
</cp:coreProperties>
</file>