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del informe estratégico ante el Consejo Directivo del INDOTEL. Los cinco pilares de la franja inferior — datos, interoperabilidad, estándares, conectividad y sostenibilidad — son los ejes que estructuran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visión ordena el discurso: conectividad, eficiencia municipal y mejor servicio al ciudadano. Los cuatro indicadores de la banda inferior son las metas de referencia del instrumento estratégico.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actores, tres aportes distintos y complementarios. Es la lámina que evita la confusión más común: creer que InDiCo, OASC y U4SSC son lo mismo.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InDiCo Global no aporta solo financiamiento: aporta acceso a estándares, capacitación y una red de pares. La aplicación en RD ya tiene metas concretas — de 3 a 5 ciudades piloto y un hub sostenible.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clave a comunicar: OASC no es un proveedor. Es una red que define reglas comunes. Eso protege al Estado de la dependencia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mecanismos de operación. El acuerdo con la UIT de 2024 es el que da respaldo institucional al vínculo con el sistema de Naciones Unidas.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Traducción del concepto técnico a decisión de política pública: el mínimo común obligatorio evita compras aisladas y protege la inversión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sintética de la lámina 6, pensada para audiencias ejecutivas: cuatro pilares, una línea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anclaje visual: los MIMs conectan movilidad, ambiente, permisos, seguridad y conectividad en un mismo lenguaje.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fases secuenciales. La medición cierra el ciclo y lo realimenta: sin KPIs U4SSC no hay mejora continua ni evidencia para el Consejo Directivo.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argumento técnico con el argumento humano: seis servicios cotidianos donde el ciudadano percibe el resultado de la interoperabilidad.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cierre y de solicitud formal: el Consejo Directivo autoriza convertir la cooperación InDiCo/OASC/U4SSC en un instrumento permanente del INDOTEL.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image" Target="../media/image-4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lt.diy/presentaciones/indotel-ciudades-inteligentes/src/derived/city_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bolt.diy/presentaciones/indotel-ciudades-inteligentes/src/derived/veil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84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2600" dirty="0"/>
          </a:p>
        </p:txBody>
      </p:sp>
      <p:sp>
        <p:nvSpPr>
          <p:cNvPr id="5" name="Text 1"/>
          <p:cNvSpPr/>
          <p:nvPr/>
        </p:nvSpPr>
        <p:spPr>
          <a:xfrm>
            <a:off x="566928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DOMINICANA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566928" y="1700784"/>
            <a:ext cx="7589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Nacional</a:t>
            </a:r>
            <a:endParaRPr lang="en-US" sz="35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Ciudades Inteligentes</a:t>
            </a:r>
            <a:endParaRPr lang="en-US" sz="3500" dirty="0"/>
          </a:p>
        </p:txBody>
      </p:sp>
      <p:sp>
        <p:nvSpPr>
          <p:cNvPr id="7" name="Text 3"/>
          <p:cNvSpPr/>
          <p:nvPr/>
        </p:nvSpPr>
        <p:spPr>
          <a:xfrm>
            <a:off x="566928" y="29626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 Estratégico INDOTEL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66928" y="35478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municipios. Impulsando innovación.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vidas.</a:t>
            </a:r>
            <a:endParaRPr lang="en-US" sz="1350" dirty="0"/>
          </a:p>
        </p:txBody>
      </p:sp>
      <p:pic>
        <p:nvPicPr>
          <p:cNvPr id="9" name="Image 2" descr="/home/user/bolt.diy/presentaciones/indotel-ciudades-inteligentes/src/icons/s1_da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864608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535838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" kern="0" dirty="0">
                <a:solidFill>
                  <a:srgbClr val="D7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750" dirty="0"/>
          </a:p>
        </p:txBody>
      </p:sp>
      <p:pic>
        <p:nvPicPr>
          <p:cNvPr id="11" name="Image 3" descr="/home/user/bolt.diy/presentaciones/indotel-ciudades-inteligentes/src/icons/s1_inte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696" y="4864608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084832" y="535838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" kern="0" dirty="0">
                <a:solidFill>
                  <a:srgbClr val="D7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INTEROPERABILIDAD</a:t>
            </a:r>
            <a:endParaRPr lang="en-US" sz="750" dirty="0"/>
          </a:p>
        </p:txBody>
      </p:sp>
      <p:pic>
        <p:nvPicPr>
          <p:cNvPr id="13" name="Image 4" descr="/home/user/bolt.diy/presentaciones/indotel-ciudades-inteligentes/src/icons/s1_estandar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864608"/>
            <a:ext cx="365760" cy="3657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602736" y="535838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" kern="0" dirty="0">
                <a:solidFill>
                  <a:srgbClr val="D7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</a:t>
            </a:r>
            <a:endParaRPr lang="en-US" sz="750" dirty="0"/>
          </a:p>
        </p:txBody>
      </p:sp>
      <p:pic>
        <p:nvPicPr>
          <p:cNvPr id="15" name="Image 5" descr="/home/user/bolt.diy/presentaciones/indotel-ciudades-inteligentes/src/icons/s1_conectivida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5504" y="4864608"/>
            <a:ext cx="365760" cy="36576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120640" y="535838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" kern="0" dirty="0">
                <a:solidFill>
                  <a:srgbClr val="D7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</a:t>
            </a:r>
            <a:endParaRPr lang="en-US" sz="750" dirty="0"/>
          </a:p>
        </p:txBody>
      </p:sp>
      <p:pic>
        <p:nvPicPr>
          <p:cNvPr id="17" name="Image 6" descr="/home/user/bolt.diy/presentaciones/indotel-ciudades-inteligentes/src/icons/s1_sostenibilida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08" y="4864608"/>
            <a:ext cx="365760" cy="36576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6638544" y="535838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" kern="0" dirty="0">
                <a:solidFill>
                  <a:srgbClr val="D7E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SOSTENIBILIDAD</a:t>
            </a:r>
            <a:endParaRPr lang="en-US" sz="750" dirty="0"/>
          </a:p>
        </p:txBody>
      </p:sp>
      <p:sp>
        <p:nvSpPr>
          <p:cNvPr id="19" name="Shape 10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20" name="Text 11"/>
          <p:cNvSpPr/>
          <p:nvPr/>
        </p:nvSpPr>
        <p:spPr>
          <a:xfrm>
            <a:off x="566928" y="6272784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Proyecto InDiCo Global / OASC / U4SSC</a:t>
            </a:r>
            <a:endParaRPr lang="en-US" sz="1000" dirty="0"/>
          </a:p>
        </p:txBody>
      </p:sp>
      <p:sp>
        <p:nvSpPr>
          <p:cNvPr id="21" name="Text 12"/>
          <p:cNvSpPr/>
          <p:nvPr/>
        </p:nvSpPr>
        <p:spPr>
          <a:xfrm>
            <a:off x="7223760" y="627278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Consejo Directivo INDOTEL</a:t>
            </a:r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2026</a:t>
            </a:r>
            <a:endParaRPr lang="en-US" sz="1000" dirty="0"/>
          </a:p>
        </p:txBody>
      </p:sp>
      <p:sp>
        <p:nvSpPr>
          <p:cNvPr id="22" name="Text 13"/>
          <p:cNvSpPr/>
          <p:nvPr/>
        </p:nvSpPr>
        <p:spPr>
          <a:xfrm>
            <a:off x="11521440" y="6272784"/>
            <a:ext cx="365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lt.diy/presentaciones/indotel-ciudades-inteligentes/src/derived/monumen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8095" cy="4617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 VISIÓN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5257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país conectado.</a:t>
            </a:r>
            <a:endParaRPr lang="en-US" sz="24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Municipios más eficientes.</a:t>
            </a:r>
            <a:endParaRPr lang="en-US" sz="24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mejor servidos.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66928" y="23042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instrumento estratégico del INDOTEL convierte la cooperación internacional en resultados reales para la República Dominicana.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863840" y="475488"/>
            <a:ext cx="3913632" cy="3529584"/>
          </a:xfrm>
          <a:prstGeom prst="roundRect">
            <a:avLst>
              <a:gd name="adj" fmla="val 2591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254000" dist="50800" dir="5400000">
              <a:srgbClr val="0B2C5E">
                <a:alpha val="2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183880" y="786384"/>
            <a:ext cx="457200" cy="457200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8" name="Image 1" descr="/home/user/bolt.diy/presentaciones/indotel-ciudades-inteligentes/src/icons/s2_servici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8" y="896112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33104" y="74980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servicios</a:t>
            </a:r>
            <a:endParaRPr lang="en-US" sz="11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ciudadanía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183880" y="1609344"/>
            <a:ext cx="457200" cy="457200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1" name="Image 2" descr="/home/user/bolt.diy/presentaciones/indotel-ciudades-inteligentes/src/icons/s2_decision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1719072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33104" y="157276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</a:t>
            </a:r>
            <a:endParaRPr lang="en-US" sz="11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datos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183880" y="2432304"/>
            <a:ext cx="457200" cy="457200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4" name="Image 3" descr="/home/user/bolt.diy/presentaciones/indotel-ciudades-inteligentes/src/icons/s2_inver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542032"/>
            <a:ext cx="237744" cy="2377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33104" y="239572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pública</a:t>
            </a:r>
            <a:endParaRPr lang="en-US" sz="11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eficiente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183880" y="3255264"/>
            <a:ext cx="457200" cy="457200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7" name="Image 4" descr="/home/user/bolt.diy/presentaciones/indotel-ciudades-inteligentes/src/icons/s2_ciudad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3608" y="3364992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33104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Ciudades sostenibles</a:t>
            </a:r>
            <a:endParaRPr lang="en-US" sz="11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inclusivas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0" y="4617720"/>
            <a:ext cx="12191695" cy="2240280"/>
          </a:xfrm>
          <a:prstGeom prst="rect">
            <a:avLst/>
          </a:prstGeom>
          <a:solidFill>
            <a:srgbClr val="0B2C5E"/>
          </a:solidFill>
          <a:ln/>
        </p:spPr>
      </p:sp>
      <p:pic>
        <p:nvPicPr>
          <p:cNvPr id="20" name="Image 5" descr="/home/user/bolt.diy/presentaciones/indotel-ciudades-inteligentes/src/icons/s2_kpi_municipio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358384"/>
            <a:ext cx="566928" cy="56692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07008" y="502920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CONECTADOS</a:t>
            </a:r>
            <a:endParaRPr lang="en-US" sz="1000" dirty="0"/>
          </a:p>
        </p:txBody>
      </p:sp>
      <p:sp>
        <p:nvSpPr>
          <p:cNvPr id="22" name="Text 14"/>
          <p:cNvSpPr/>
          <p:nvPr/>
        </p:nvSpPr>
        <p:spPr>
          <a:xfrm>
            <a:off x="1207008" y="5596128"/>
            <a:ext cx="1630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</a:t>
            </a:r>
            <a:endParaRPr lang="en-US" sz="2700" dirty="0"/>
          </a:p>
        </p:txBody>
      </p:sp>
      <p:pic>
        <p:nvPicPr>
          <p:cNvPr id="23" name="Image 6" descr="/home/user/bolt.diy/presentaciones/indotel-ciudades-inteligentes/src/icons/s2_kpi_ciudadano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5124" y="5358384"/>
            <a:ext cx="566928" cy="56692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254932" y="502920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IMPACTADOS</a:t>
            </a:r>
            <a:endParaRPr lang="en-US" sz="1000" dirty="0"/>
          </a:p>
        </p:txBody>
      </p:sp>
      <p:sp>
        <p:nvSpPr>
          <p:cNvPr id="25" name="Text 16"/>
          <p:cNvSpPr/>
          <p:nvPr/>
        </p:nvSpPr>
        <p:spPr>
          <a:xfrm>
            <a:off x="4254932" y="5596128"/>
            <a:ext cx="1630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3M</a:t>
            </a:r>
            <a:endParaRPr lang="en-US" sz="2700" dirty="0"/>
          </a:p>
        </p:txBody>
      </p:sp>
      <p:sp>
        <p:nvSpPr>
          <p:cNvPr id="26" name="Shape 17"/>
          <p:cNvSpPr/>
          <p:nvPr/>
        </p:nvSpPr>
        <p:spPr>
          <a:xfrm>
            <a:off x="3047924" y="502920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7" name="Image 7" descr="/home/user/bolt.diy/presentaciones/indotel-ciudades-inteligentes/src/icons/s2_kpi_proyecto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48" y="5358384"/>
            <a:ext cx="566928" cy="56692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7302856" y="502920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PRIORIZADOS</a:t>
            </a:r>
            <a:endParaRPr lang="en-US" sz="1000" dirty="0"/>
          </a:p>
        </p:txBody>
      </p:sp>
      <p:sp>
        <p:nvSpPr>
          <p:cNvPr id="29" name="Text 19"/>
          <p:cNvSpPr/>
          <p:nvPr/>
        </p:nvSpPr>
        <p:spPr>
          <a:xfrm>
            <a:off x="7302856" y="5596128"/>
            <a:ext cx="1630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100</a:t>
            </a:r>
            <a:endParaRPr lang="en-US" sz="2700" dirty="0"/>
          </a:p>
        </p:txBody>
      </p:sp>
      <p:sp>
        <p:nvSpPr>
          <p:cNvPr id="30" name="Shape 20"/>
          <p:cNvSpPr/>
          <p:nvPr/>
        </p:nvSpPr>
        <p:spPr>
          <a:xfrm>
            <a:off x="6095848" y="502920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31" name="Image 8" descr="/home/user/bolt.diy/presentaciones/indotel-ciudades-inteligentes/src/icons/s2_kpi_decis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0971" y="5358384"/>
            <a:ext cx="566928" cy="56692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0350779" y="502920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DECISIÓN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PÚBLICA</a:t>
            </a:r>
            <a:endParaRPr lang="en-US" sz="1000" dirty="0"/>
          </a:p>
        </p:txBody>
      </p:sp>
      <p:sp>
        <p:nvSpPr>
          <p:cNvPr id="33" name="Text 22"/>
          <p:cNvSpPr/>
          <p:nvPr/>
        </p:nvSpPr>
        <p:spPr>
          <a:xfrm>
            <a:off x="10350779" y="5596128"/>
            <a:ext cx="1630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700" dirty="0"/>
          </a:p>
        </p:txBody>
      </p:sp>
      <p:sp>
        <p:nvSpPr>
          <p:cNvPr id="34" name="Shape 23"/>
          <p:cNvSpPr/>
          <p:nvPr/>
        </p:nvSpPr>
        <p:spPr>
          <a:xfrm>
            <a:off x="9143771" y="502920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Primero: Quiénes son los actores</a:t>
            </a:r>
            <a:endParaRPr lang="en-US" sz="2500" dirty="0"/>
          </a:p>
        </p:txBody>
      </p:sp>
      <p:pic>
        <p:nvPicPr>
          <p:cNvPr id="5" name="Image 0" descr="/home/user/bolt.diy/presentaciones/indotel-ciudades-inteligentes/src/derived/globe_cr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71600"/>
            <a:ext cx="553212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0" y="1627632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sp>
        <p:nvSpPr>
          <p:cNvPr id="7" name="Text 4"/>
          <p:cNvSpPr/>
          <p:nvPr/>
        </p:nvSpPr>
        <p:spPr>
          <a:xfrm>
            <a:off x="5852160" y="1627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10528" y="1591056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InDiCo Global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510528" y="1856232"/>
            <a:ext cx="5102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cooperación internacional sobre estándares digitales/ICT y políticas digitales. Su valor para RD es transferencia de capacidades, alineación con estándares y apoyo técnico.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2843784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sp>
        <p:nvSpPr>
          <p:cNvPr id="11" name="Text 8"/>
          <p:cNvSpPr/>
          <p:nvPr/>
        </p:nvSpPr>
        <p:spPr>
          <a:xfrm>
            <a:off x="585216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10528" y="2807208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OASC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510528" y="3072384"/>
            <a:ext cx="5102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Agile Smart Cities and Communities. Red global de ciudades y comunidades que ayuda a administraciones locales a avanzar en transformación digital e interoperabilidad.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852160" y="4059936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10528" y="4023360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U4SSC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510528" y="4288536"/>
            <a:ext cx="5102352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for Smart Sustainable Cities. Iniciativa del sistema ONU que ofrece KPIs y modelos de medición para ciudades inteligentes y sostenibles.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0" y="5623560"/>
            <a:ext cx="12191695" cy="658368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623560"/>
            <a:ext cx="107103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estratégico: InDiCo abre la cooperación; OASC aporta interoperabilidad y red; U4SSC aporta medición, INDOTEL convierte todo en política pública operativa.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533327" y="562356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66928" y="6400800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InDiCo Global; OASC; U4SSC / ITU.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InDiCo Global: cooperación digital y estándares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un “proyecto”; es una puerta de acceso a conocimiento y estándares internacionales.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938528"/>
            <a:ext cx="5330952" cy="3310128"/>
          </a:xfrm>
          <a:prstGeom prst="roundRect">
            <a:avLst>
              <a:gd name="adj" fmla="val 1657"/>
            </a:avLst>
          </a:prstGeom>
          <a:solidFill>
            <a:srgbClr val="F3F7F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1284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promueve</a:t>
            </a:r>
            <a:endParaRPr lang="en-US" sz="1350" dirty="0"/>
          </a:p>
        </p:txBody>
      </p:sp>
      <p:pic>
        <p:nvPicPr>
          <p:cNvPr id="8" name="Image 0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793492"/>
            <a:ext cx="164592" cy="1645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2720340"/>
            <a:ext cx="4297680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sobre modelos de estándares ICT/digitales.</a:t>
            </a:r>
            <a:endParaRPr lang="en-US" sz="1100" dirty="0"/>
          </a:p>
        </p:txBody>
      </p:sp>
      <p:pic>
        <p:nvPicPr>
          <p:cNvPr id="10" name="Image 1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246628"/>
            <a:ext cx="164592" cy="1645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3173476"/>
            <a:ext cx="4297680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cooperación con países y regiones socias.</a:t>
            </a:r>
            <a:endParaRPr lang="en-US" sz="1100" dirty="0"/>
          </a:p>
        </p:txBody>
      </p:sp>
      <p:pic>
        <p:nvPicPr>
          <p:cNvPr id="12" name="Image 2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699764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3626612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Interoperabilidad, ciberseguridad, datos, IoT, 5G, IA y ciudades inteligentes.</a:t>
            </a:r>
            <a:endParaRPr lang="en-US" sz="1100" dirty="0"/>
          </a:p>
        </p:txBody>
      </p:sp>
      <p:pic>
        <p:nvPicPr>
          <p:cNvPr id="14" name="Image 3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4331716"/>
            <a:ext cx="164592" cy="1645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258564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estándares compatibles con valores europeos: apertura, protección de datos y confianza.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291072" y="1938528"/>
            <a:ext cx="5330952" cy="3310128"/>
          </a:xfrm>
          <a:prstGeom prst="roundRect">
            <a:avLst>
              <a:gd name="adj" fmla="val 1657"/>
            </a:avLst>
          </a:prstGeom>
          <a:solidFill>
            <a:srgbClr val="F3F7FB"/>
          </a:solidFill>
          <a:ln/>
        </p:spPr>
      </p:sp>
      <p:sp>
        <p:nvSpPr>
          <p:cNvPr id="17" name="Text 11"/>
          <p:cNvSpPr/>
          <p:nvPr/>
        </p:nvSpPr>
        <p:spPr>
          <a:xfrm>
            <a:off x="6656832" y="221284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directa en RD</a:t>
            </a:r>
            <a:endParaRPr lang="en-US" sz="1350" dirty="0"/>
          </a:p>
        </p:txBody>
      </p:sp>
      <p:pic>
        <p:nvPicPr>
          <p:cNvPr id="18" name="Image 4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793492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58584" y="2720340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OASC trabajará con 3–5 ciudades dominicanas para apoyar su madurez digital.</a:t>
            </a:r>
            <a:endParaRPr lang="en-US" sz="1100" dirty="0"/>
          </a:p>
        </p:txBody>
      </p:sp>
      <p:pic>
        <p:nvPicPr>
          <p:cNvPr id="20" name="Image 5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425444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8584" y="3352292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usarán LORDIMAS y el modelo ITU de madurez de ciudades inteligentes y sostenibles.</a:t>
            </a:r>
            <a:endParaRPr lang="en-US" sz="1100" dirty="0"/>
          </a:p>
        </p:txBody>
      </p:sp>
      <p:pic>
        <p:nvPicPr>
          <p:cNvPr id="22" name="Image 6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2" y="4057396"/>
            <a:ext cx="164592" cy="16459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958584" y="3984244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publicada: crear un hub sostenible vinculado a OASC y U4SSC.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0" y="5541264"/>
            <a:ext cx="12191695" cy="658368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25" name="Text 16"/>
          <p:cNvSpPr/>
          <p:nvPr/>
        </p:nvSpPr>
        <p:spPr>
          <a:xfrm>
            <a:off x="566928" y="5541264"/>
            <a:ext cx="107103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INDOTEL: esto permite pasar de una cooperación puntual a una arquitectura nacional de acompañamiento municipal.</a:t>
            </a:r>
            <a:endParaRPr lang="en-US" sz="1150" dirty="0"/>
          </a:p>
        </p:txBody>
      </p:sp>
      <p:sp>
        <p:nvSpPr>
          <p:cNvPr id="26" name="Text 17"/>
          <p:cNvSpPr/>
          <p:nvPr/>
        </p:nvSpPr>
        <p:spPr>
          <a:xfrm>
            <a:off x="11533327" y="5541264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18"/>
          <p:cNvSpPr/>
          <p:nvPr/>
        </p:nvSpPr>
        <p:spPr>
          <a:xfrm>
            <a:off x="566928" y="6400800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InDiCo Global; InDiCo-Global Second Open Call Winners, 2026.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OASC: Ciudades Inteligentes Abiertas y Ágiles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Agile Smart Cities and Communities es una red global de ciudades y comunidades.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29584" cy="2670048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52400" dist="38100" dir="5400000">
              <a:srgbClr val="0B2C5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249424"/>
            <a:ext cx="640080" cy="640080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8" name="Image 0" descr="/home/user/bolt.diy/presentaciones/indotel-ciudades-inteligentes/src/icons/s5_naturalez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7128" y="240487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95528" y="30449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77824" y="3401568"/>
            <a:ext cx="290779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internacional con sede en Bruselas que conecta ciudades, regiones y comunidades para compartir soluciones digitales basadas en datos.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9412" y="1965960"/>
            <a:ext cx="3529584" cy="2670048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52400" dist="38100" dir="5400000">
              <a:srgbClr val="0B2C5E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84164" y="2249424"/>
            <a:ext cx="640080" cy="640080"/>
          </a:xfrm>
          <a:prstGeom prst="ellipse">
            <a:avLst/>
          </a:prstGeom>
          <a:solidFill>
            <a:srgbClr val="0B2C5E"/>
          </a:solidFill>
          <a:ln/>
        </p:spPr>
      </p:sp>
      <p:pic>
        <p:nvPicPr>
          <p:cNvPr id="13" name="Image 1" descr="/home/user/bolt.diy/presentaciones/indotel-ciudades-inteligentes/src/icons/s5_tecni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612" y="240487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8012" y="30449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técnico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750308" y="3401568"/>
            <a:ext cx="290779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la interoperabilidad técnica, semántica, organizacional y legal, para que sistemas y datos puedan combinarse y reutilizarse.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11896" y="1965960"/>
            <a:ext cx="3529584" cy="2670048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152400" dist="38100" dir="5400000">
              <a:srgbClr val="0B2C5E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756648" y="2249424"/>
            <a:ext cx="640080" cy="640080"/>
          </a:xfrm>
          <a:prstGeom prst="ellipse">
            <a:avLst/>
          </a:prstGeom>
          <a:solidFill>
            <a:srgbClr val="0E7A6B"/>
          </a:solidFill>
          <a:ln/>
        </p:spPr>
      </p:sp>
      <p:pic>
        <p:nvPicPr>
          <p:cNvPr id="18" name="Image 2" descr="/home/user/bolt.diy/presentaciones/indotel-ciudades-inteligentes/src/icons/s5_val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2096" y="240487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40496" y="30449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público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622792" y="3401568"/>
            <a:ext cx="290779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evitar dependencia de proveedores, reducir costos, mejorar eficiencia y facilitar la réplica de soluciones entre ciudades.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5047488"/>
            <a:ext cx="11057839" cy="822960"/>
          </a:xfrm>
          <a:prstGeom prst="roundRect">
            <a:avLst>
              <a:gd name="adj" fmla="val 6667"/>
            </a:avLst>
          </a:prstGeom>
          <a:solidFill>
            <a:srgbClr val="E8F1FA"/>
          </a:solidFill>
          <a:ln/>
        </p:spPr>
      </p:sp>
      <p:sp>
        <p:nvSpPr>
          <p:cNvPr id="22" name="Text 17"/>
          <p:cNvSpPr/>
          <p:nvPr/>
        </p:nvSpPr>
        <p:spPr>
          <a:xfrm>
            <a:off x="950976" y="5047488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OASC no vende una plataforma cerrada; impulsa reglas comunes para que las plataformas municipales puedan comunicarse.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66928" y="6400800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OASC official site; Living-in.eu OASC partner profile.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25" name="Text 20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 OASC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organización combina gobernanza de ciudades, soporte técnico y participación en proyectos internacionales.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7" name="Text 5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pic>
        <p:nvPicPr>
          <p:cNvPr id="8" name="Image 0" descr="/home/user/bolt.diy/presentaciones/indotel-ciudades-inteligentes/src/derived/roof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56832" y="1371600"/>
            <a:ext cx="4974336" cy="42245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75104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0" name="Image 1" descr="/home/user/bolt.diy/presentaciones/indotel-ciudades-inteligentes/src/icons/s6_gobernanz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7568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25296" y="1938528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225296" y="2203704"/>
            <a:ext cx="5102352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Consejo de Ciudades, órgano de gobierno y Consejo Tecnológico para validar el rumbo y la adopción de MIMs.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66928" y="2956560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4" name="Image 2" descr="/home/user/bolt.diy/presentaciones/indotel-ciudades-inteligentes/src/icons/s6_servici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057144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25296" y="2919984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25296" y="3185160"/>
            <a:ext cx="5102352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Conocimiento, proyectos, herramientas técnicas, apoyo a miembros, capacitación y espacios de colaboración.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66928" y="3938016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18" name="Image 3" descr="/home/user/bolt.diy/presentaciones/indotel-ciudades-inteligentes/src/icons/s6_proyect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3860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25296" y="3901440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225296" y="4166616"/>
            <a:ext cx="5102352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 en iniciativas de datos, gemelos digitales, CitiVerse, ciberseguridad, movilidad y ciudades inteligentes.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66928" y="4919472"/>
            <a:ext cx="402336" cy="402336"/>
          </a:xfrm>
          <a:prstGeom prst="ellipse">
            <a:avLst/>
          </a:prstGeom>
          <a:solidFill>
            <a:srgbClr val="1668B8"/>
          </a:solidFill>
          <a:ln/>
        </p:spPr>
      </p:sp>
      <p:pic>
        <p:nvPicPr>
          <p:cNvPr id="22" name="Image 4" descr="/home/user/bolt.diy/presentaciones/indotel-ciudades-inteligentes/src/icons/s6_it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020056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25296" y="4882896"/>
            <a:ext cx="5102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ITU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1225296" y="5148072"/>
            <a:ext cx="5102352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4"/>
              </a:lnSpc>
              <a:buNone/>
            </a:pPr>
            <a:r>
              <a:rPr lang="en-US" sz="10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2024 OASC y la UIT firmaron cooperación para llevar la voz de ciudades y comunidades a tecnologías emergentes.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 central de OASC: Mecanismos Mínimos de Interoperabilidad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Interoperability Mechanisms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5330952" cy="3154680"/>
          </a:xfrm>
          <a:prstGeom prst="roundRect">
            <a:avLst>
              <a:gd name="adj" fmla="val 1739"/>
            </a:avLst>
          </a:prstGeom>
          <a:solidFill>
            <a:srgbClr val="F3F7F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31136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resuelven?</a:t>
            </a:r>
            <a:endParaRPr lang="en-US" sz="1350" dirty="0"/>
          </a:p>
        </p:txBody>
      </p:sp>
      <p:pic>
        <p:nvPicPr>
          <p:cNvPr id="8" name="Image 0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729484"/>
            <a:ext cx="164592" cy="1645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2656332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Permiten un nivel mínimo y suficiente de interoperabilidad entre datos, sistemas y servicios.</a:t>
            </a:r>
            <a:endParaRPr lang="en-US" sz="1100" dirty="0"/>
          </a:p>
        </p:txBody>
      </p:sp>
      <p:pic>
        <p:nvPicPr>
          <p:cNvPr id="10" name="Image 1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324860"/>
            <a:ext cx="164592" cy="1645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3251708"/>
            <a:ext cx="4297680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 soluciones técnicas y no técnicas.</a:t>
            </a:r>
            <a:endParaRPr lang="en-US" sz="1100" dirty="0"/>
          </a:p>
        </p:txBody>
      </p:sp>
      <p:pic>
        <p:nvPicPr>
          <p:cNvPr id="12" name="Image 2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741420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3668268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Ayudan a que las inversiones digitales sean más futuras y menos dependientes de un proveedor.</a:t>
            </a:r>
            <a:endParaRPr lang="en-US" sz="1100" dirty="0"/>
          </a:p>
        </p:txBody>
      </p:sp>
      <p:pic>
        <p:nvPicPr>
          <p:cNvPr id="14" name="Image 3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4336796"/>
            <a:ext cx="164592" cy="1645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263644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Mejoran la cooperación entre departamentos y servicios públicos.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291072" y="1965960"/>
            <a:ext cx="5330952" cy="3154680"/>
          </a:xfrm>
          <a:prstGeom prst="roundRect">
            <a:avLst>
              <a:gd name="adj" fmla="val 1739"/>
            </a:avLst>
          </a:prstGeom>
          <a:solidFill>
            <a:srgbClr val="F3F7FB"/>
          </a:solidFill>
          <a:ln/>
        </p:spPr>
      </p:sp>
      <p:sp>
        <p:nvSpPr>
          <p:cNvPr id="17" name="Text 11"/>
          <p:cNvSpPr/>
          <p:nvPr/>
        </p:nvSpPr>
        <p:spPr>
          <a:xfrm>
            <a:off x="6656832" y="2231136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para INDOTEL</a:t>
            </a:r>
            <a:endParaRPr lang="en-US" sz="1350" dirty="0"/>
          </a:p>
        </p:txBody>
      </p:sp>
      <p:pic>
        <p:nvPicPr>
          <p:cNvPr id="18" name="Image 4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729484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58584" y="2656332"/>
            <a:ext cx="4297680" cy="288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municipio no debe comprar sistemas aislados.</a:t>
            </a:r>
            <a:endParaRPr lang="en-US" sz="1100" dirty="0"/>
          </a:p>
        </p:txBody>
      </p:sp>
      <p:pic>
        <p:nvPicPr>
          <p:cNvPr id="20" name="Image 5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146044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8584" y="3072892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movilidad, ambiente, permisos, seguridad y conectividad deben poder integrarse.</a:t>
            </a:r>
            <a:endParaRPr lang="en-US" sz="1100" dirty="0"/>
          </a:p>
        </p:txBody>
      </p:sp>
      <p:pic>
        <p:nvPicPr>
          <p:cNvPr id="22" name="Image 6" descr="/home/user/bolt.diy/presentaciones/indotel-ciudades-inteligentes/src/icons/check_blu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2" y="3741420"/>
            <a:ext cx="164592" cy="16459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958584" y="3668268"/>
            <a:ext cx="4297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8"/>
              </a:lnSpc>
              <a:buNone/>
            </a:pPr>
            <a:r>
              <a:rPr lang="en-US" sz="11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INDOTEL puede promover lenguaje común, guías técnicas y criterios mínimos para proyectos municipales.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566928" y="5321808"/>
            <a:ext cx="11057839" cy="777240"/>
          </a:xfrm>
          <a:prstGeom prst="roundRect">
            <a:avLst>
              <a:gd name="adj" fmla="val 7059"/>
            </a:avLst>
          </a:prstGeom>
          <a:solidFill>
            <a:srgbClr val="E8F1FA"/>
          </a:solidFill>
          <a:ln/>
        </p:spPr>
      </p:sp>
      <p:pic>
        <p:nvPicPr>
          <p:cNvPr id="25" name="Image 7" descr="/home/user/bolt.diy/presentaciones/indotel-ciudades-inteligentes/src/icons/quote_shiel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5577840"/>
            <a:ext cx="274320" cy="27432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1408176" y="5321808"/>
            <a:ext cx="98233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“Los MIMs convierten la ciudad inteligente en gestión pública más eficiente, no en tecnología aislada.”</a:t>
            </a:r>
            <a:endParaRPr lang="en-US" sz="1250" dirty="0"/>
          </a:p>
        </p:txBody>
      </p:sp>
      <p:sp>
        <p:nvSpPr>
          <p:cNvPr id="27" name="Text 17"/>
          <p:cNvSpPr/>
          <p:nvPr/>
        </p:nvSpPr>
        <p:spPr>
          <a:xfrm>
            <a:off x="566928" y="6400800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OASC MIMs concept and materials.</a:t>
            </a:r>
            <a:endParaRPr lang="en-US" sz="850" dirty="0"/>
          </a:p>
        </p:txBody>
      </p:sp>
      <p:sp>
        <p:nvSpPr>
          <p:cNvPr id="28" name="Shape 18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29" name="Text 19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opera OASC?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Gobernanza, conocimiento y proyectos para ciudades más inteligentes.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7" name="Text 5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148840"/>
            <a:ext cx="11057839" cy="3520440"/>
          </a:xfrm>
          <a:prstGeom prst="roundRect">
            <a:avLst>
              <a:gd name="adj" fmla="val 1818"/>
            </a:avLst>
          </a:prstGeom>
          <a:solidFill>
            <a:srgbClr val="F3F7FB"/>
          </a:solidFill>
          <a:ln/>
        </p:spPr>
      </p:sp>
      <p:pic>
        <p:nvPicPr>
          <p:cNvPr id="9" name="Image 0" descr="/home/user/bolt.diy/presentaciones/indotel-ciudades-inteligentes/src/icons/s8_gobernanz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1958" y="265176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76656" y="3822192"/>
            <a:ext cx="25450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9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" y="4224528"/>
            <a:ext cx="22158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Consejo de Ciudades y Consejo Tecnológico para validar el rumbo y estándares (MIMs).</a:t>
            </a:r>
            <a:endParaRPr lang="en-US" sz="1150" dirty="0"/>
          </a:p>
        </p:txBody>
      </p:sp>
      <p:pic>
        <p:nvPicPr>
          <p:cNvPr id="12" name="Image 1" descr="/home/user/bolt.diy/presentaciones/indotel-ciudades-inteligentes/src/icons/s8_servici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6418" y="2651760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41116" y="3822192"/>
            <a:ext cx="25450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9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05708" y="4224528"/>
            <a:ext cx="22158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Conocimiento, herramientas técnicas, capacitación y apoyo continuo a municipios.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331388" y="2578608"/>
            <a:ext cx="0" cy="2697480"/>
          </a:xfrm>
          <a:prstGeom prst="line">
            <a:avLst/>
          </a:prstGeom>
          <a:noFill/>
          <a:ln w="12700">
            <a:solidFill>
              <a:srgbClr val="C9D8E6"/>
            </a:solidFill>
            <a:prstDash val="solid"/>
          </a:ln>
        </p:spPr>
      </p:sp>
      <p:pic>
        <p:nvPicPr>
          <p:cNvPr id="16" name="Image 2" descr="/home/user/bolt.diy/presentaciones/indotel-ciudades-inteligentes/src/icons/s8_proyec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878" y="2651760"/>
            <a:ext cx="914400" cy="914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5576" y="3822192"/>
            <a:ext cx="25450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9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70168" y="4224528"/>
            <a:ext cx="22158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Iniciativas en datos, gemelos digitales, movilidad, ciberseguridad, CitiVerse y más.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95848" y="2578608"/>
            <a:ext cx="0" cy="2697480"/>
          </a:xfrm>
          <a:prstGeom prst="line">
            <a:avLst/>
          </a:prstGeom>
          <a:noFill/>
          <a:ln w="12700">
            <a:solidFill>
              <a:srgbClr val="C9D8E6"/>
            </a:solidFill>
            <a:prstDash val="solid"/>
          </a:ln>
        </p:spPr>
      </p:sp>
      <p:pic>
        <p:nvPicPr>
          <p:cNvPr id="20" name="Image 3" descr="/home/user/bolt.diy/presentaciones/indotel-ciudades-inteligentes/src/icons/s8_alianz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337" y="2651760"/>
            <a:ext cx="914400" cy="9144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70035" y="3822192"/>
            <a:ext cx="25450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9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9134627" y="4224528"/>
            <a:ext cx="22158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Cooperación con ITU y actores globales para llevar la voz de las ciudades a tecnologías emergentes.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0307" y="2578608"/>
            <a:ext cx="0" cy="2697480"/>
          </a:xfrm>
          <a:prstGeom prst="line">
            <a:avLst/>
          </a:prstGeom>
          <a:noFill/>
          <a:ln w="12700">
            <a:solidFill>
              <a:srgbClr val="C9D8E6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 clave: MIMs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Mecanismos Mínimos de Interoperabilidad. La base para ciudades que se entienden.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7" name="Text 5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pic>
        <p:nvPicPr>
          <p:cNvPr id="8" name="Image 0" descr="/home/user/bolt.diy/presentaciones/indotel-ciudades-inteligentes/src/derived/mim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37360"/>
            <a:ext cx="6903720" cy="4160520"/>
          </a:xfrm>
          <a:prstGeom prst="rect">
            <a:avLst/>
          </a:prstGeom>
        </p:spPr>
      </p:pic>
      <p:pic>
        <p:nvPicPr>
          <p:cNvPr id="9" name="Image 1" descr="/home/user/bolt.diy/presentaciones/indotel-ciudades-inteligentes/src/icons/check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277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01584" y="2354580"/>
            <a:ext cx="3511296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mínimo y suficiente de interoperabilidad.</a:t>
            </a:r>
            <a:endParaRPr lang="en-US" sz="1200" dirty="0"/>
          </a:p>
        </p:txBody>
      </p:sp>
      <p:pic>
        <p:nvPicPr>
          <p:cNvPr id="11" name="Image 2" descr="/home/user/bolt.diy/presentaciones/indotel-ciudades-inteligentes/src/icons/check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34822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101584" y="3275076"/>
            <a:ext cx="35112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técnicas y no técnicas.</a:t>
            </a:r>
            <a:endParaRPr lang="en-US" sz="1200" dirty="0"/>
          </a:p>
        </p:txBody>
      </p:sp>
      <p:pic>
        <p:nvPicPr>
          <p:cNvPr id="13" name="Image 3" descr="/home/user/bolt.diy/presentaciones/indotel-ciudades-inteligentes/src/icons/check_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0736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101584" y="4000500"/>
            <a:ext cx="35112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Inversiones más futuras y menos dependientes.</a:t>
            </a:r>
            <a:endParaRPr lang="en-US" sz="1200" dirty="0"/>
          </a:p>
        </p:txBody>
      </p:sp>
      <p:pic>
        <p:nvPicPr>
          <p:cNvPr id="15" name="Image 4" descr="/home/user/bolt.diy/presentaciones/indotel-ciudades-inteligentes/src/icons/check_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4799076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101584" y="4725924"/>
            <a:ext cx="3511296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36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común, guías y criterios mínimos para todos los municipios.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0B2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INDOTEL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cooperación a la transformación nacional.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0B2C5E"/>
          </a:solidFill>
          <a:ln/>
        </p:spPr>
      </p:sp>
      <p:sp>
        <p:nvSpPr>
          <p:cNvPr id="7" name="Text 5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11057839" cy="3291840"/>
          </a:xfrm>
          <a:prstGeom prst="roundRect">
            <a:avLst>
              <a:gd name="adj" fmla="val 1944"/>
            </a:avLst>
          </a:prstGeom>
          <a:solidFill>
            <a:srgbClr val="F3F7FB"/>
          </a:solidFill>
          <a:ln/>
        </p:spPr>
      </p:sp>
      <p:sp>
        <p:nvSpPr>
          <p:cNvPr id="9" name="Shape 7"/>
          <p:cNvSpPr/>
          <p:nvPr/>
        </p:nvSpPr>
        <p:spPr>
          <a:xfrm>
            <a:off x="2102480" y="3246120"/>
            <a:ext cx="1352032" cy="0"/>
          </a:xfrm>
          <a:prstGeom prst="line">
            <a:avLst/>
          </a:prstGeom>
          <a:noFill/>
          <a:ln w="24130">
            <a:solidFill>
              <a:srgbClr val="AEC2D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242944" y="2816352"/>
            <a:ext cx="859536" cy="859536"/>
          </a:xfrm>
          <a:prstGeom prst="ellipse">
            <a:avLst/>
          </a:prstGeom>
          <a:solidFill>
            <a:srgbClr val="0B2C5E"/>
          </a:solidFill>
          <a:ln/>
        </p:spPr>
      </p:sp>
      <p:sp>
        <p:nvSpPr>
          <p:cNvPr id="11" name="Text 9"/>
          <p:cNvSpPr/>
          <p:nvPr/>
        </p:nvSpPr>
        <p:spPr>
          <a:xfrm>
            <a:off x="1242944" y="2816352"/>
            <a:ext cx="8595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58368" y="3895344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7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" y="4297680"/>
            <a:ext cx="180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Evaluamos madurez digital municipal con LORDIMAS e ITU.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4048" y="3246120"/>
            <a:ext cx="1352032" cy="0"/>
          </a:xfrm>
          <a:prstGeom prst="line">
            <a:avLst/>
          </a:prstGeom>
          <a:noFill/>
          <a:ln w="24130">
            <a:solidFill>
              <a:srgbClr val="AEC2D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54512" y="2816352"/>
            <a:ext cx="859536" cy="859536"/>
          </a:xfrm>
          <a:prstGeom prst="ellipse">
            <a:avLst/>
          </a:prstGeom>
          <a:solidFill>
            <a:srgbClr val="0F4382"/>
          </a:solidFill>
          <a:ln/>
        </p:spPr>
      </p:sp>
      <p:sp>
        <p:nvSpPr>
          <p:cNvPr id="16" name="Text 14"/>
          <p:cNvSpPr/>
          <p:nvPr/>
        </p:nvSpPr>
        <p:spPr>
          <a:xfrm>
            <a:off x="3454512" y="2816352"/>
            <a:ext cx="8595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869936" y="3895344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7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9664" y="4297680"/>
            <a:ext cx="180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MIMs, guías y arquitectura nacional.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25616" y="3246120"/>
            <a:ext cx="1352032" cy="0"/>
          </a:xfrm>
          <a:prstGeom prst="line">
            <a:avLst/>
          </a:prstGeom>
          <a:noFill/>
          <a:ln w="24130">
            <a:solidFill>
              <a:srgbClr val="AEC2D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66080" y="2816352"/>
            <a:ext cx="859536" cy="859536"/>
          </a:xfrm>
          <a:prstGeom prst="ellipse">
            <a:avLst/>
          </a:prstGeom>
          <a:solidFill>
            <a:srgbClr val="1257A0"/>
          </a:solidFill>
          <a:ln/>
        </p:spPr>
      </p:sp>
      <p:sp>
        <p:nvSpPr>
          <p:cNvPr id="21" name="Text 19"/>
          <p:cNvSpPr/>
          <p:nvPr/>
        </p:nvSpPr>
        <p:spPr>
          <a:xfrm>
            <a:off x="5666080" y="2816352"/>
            <a:ext cx="8595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5081504" y="3895344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7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91232" y="4297680"/>
            <a:ext cx="180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equipos y acompañamos a municipios.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737183" y="3246120"/>
            <a:ext cx="1352032" cy="0"/>
          </a:xfrm>
          <a:prstGeom prst="line">
            <a:avLst/>
          </a:prstGeom>
          <a:noFill/>
          <a:ln w="24130">
            <a:solidFill>
              <a:srgbClr val="AEC2D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877647" y="2816352"/>
            <a:ext cx="859536" cy="859536"/>
          </a:xfrm>
          <a:prstGeom prst="ellipse">
            <a:avLst/>
          </a:prstGeom>
          <a:solidFill>
            <a:srgbClr val="1668B8"/>
          </a:solidFill>
          <a:ln/>
        </p:spPr>
      </p:sp>
      <p:sp>
        <p:nvSpPr>
          <p:cNvPr id="26" name="Text 24"/>
          <p:cNvSpPr/>
          <p:nvPr/>
        </p:nvSpPr>
        <p:spPr>
          <a:xfrm>
            <a:off x="7877647" y="2816352"/>
            <a:ext cx="8595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7293072" y="3895344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7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2800" y="4297680"/>
            <a:ext cx="180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Desplegamos casos prioritarios con impacto rápido.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89215" y="2816352"/>
            <a:ext cx="859536" cy="859536"/>
          </a:xfrm>
          <a:prstGeom prst="ellipse">
            <a:avLst/>
          </a:prstGeom>
          <a:solidFill>
            <a:srgbClr val="2E9BF0"/>
          </a:solidFill>
          <a:ln/>
        </p:spPr>
      </p:sp>
      <p:sp>
        <p:nvSpPr>
          <p:cNvPr id="30" name="Text 28"/>
          <p:cNvSpPr/>
          <p:nvPr/>
        </p:nvSpPr>
        <p:spPr>
          <a:xfrm>
            <a:off x="10089215" y="2816352"/>
            <a:ext cx="8595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9504639" y="3895344"/>
            <a:ext cx="202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70" kern="0" dirty="0">
                <a:solidFill>
                  <a:srgbClr val="0B2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14367" y="4297680"/>
            <a:ext cx="180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Medimos resultados con KPIs U4SSC y mejora continua.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3F"/>
          </a:solidFill>
          <a:ln/>
        </p:spPr>
      </p:sp>
      <p:pic>
        <p:nvPicPr>
          <p:cNvPr id="3" name="Image 0" descr="/home/user/bolt.diy/presentaciones/indotel-ciudades-inteligentes/src/derived/couple_o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566928"/>
            <a:ext cx="4617720" cy="4297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157276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para la ciudadanía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66928" y="224942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servicios. Mejor calidad de vida.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66928" y="29260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instrumento estratégico se mide donde importa: en el servicio diario que recibe cada ciudadano dominicano.</a:t>
            </a:r>
            <a:endParaRPr lang="en-US" sz="1250" dirty="0"/>
          </a:p>
        </p:txBody>
      </p:sp>
      <p:pic>
        <p:nvPicPr>
          <p:cNvPr id="9" name="Image 1" descr="/home/user/bolt.diy/presentaciones/indotel-ciudades-inteligentes/src/icons/s11_sal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15" y="53218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050" dirty="0"/>
          </a:p>
        </p:txBody>
      </p:sp>
      <p:pic>
        <p:nvPicPr>
          <p:cNvPr id="11" name="Image 2" descr="/home/user/bolt.diy/presentaciones/indotel-ciudades-inteligentes/src/icons/s11_movilid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788" y="5321808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464765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Movilidad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inteligente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409901" y="53035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pic>
        <p:nvPicPr>
          <p:cNvPr id="14" name="Image 3" descr="/home/user/bolt.diy/presentaciones/indotel-ciudades-inteligentes/src/icons/s11_segurid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761" y="5321808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307738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ciudadana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4252874" y="53035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pic>
        <p:nvPicPr>
          <p:cNvPr id="17" name="Image 4" descr="/home/user/bolt.diy/presentaciones/indotel-ciudades-inteligentes/src/icons/s11_alumbrad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8734" y="5321808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150712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Alumbrado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eficiente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095848" y="53035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pic>
        <p:nvPicPr>
          <p:cNvPr id="20" name="Image 5" descr="/home/user/bolt.diy/presentaciones/indotel-ciudades-inteligentes/src/icons/s11_ambien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707" y="5321808"/>
            <a:ext cx="457200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993685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ambiente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sostenible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>
            <a:off x="7938821" y="53035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pic>
        <p:nvPicPr>
          <p:cNvPr id="23" name="Image 6" descr="/home/user/bolt.diy/presentaciones/indotel-ciudades-inteligentes/src/icons/s11_digit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4681" y="5321808"/>
            <a:ext cx="457200" cy="4572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836658" y="5925312"/>
            <a:ext cx="173324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digitales 24/7</a:t>
            </a:r>
            <a:endParaRPr lang="en-US" sz="1050" dirty="0"/>
          </a:p>
        </p:txBody>
      </p:sp>
      <p:sp>
        <p:nvSpPr>
          <p:cNvPr id="25" name="Shape 16"/>
          <p:cNvSpPr/>
          <p:nvPr/>
        </p:nvSpPr>
        <p:spPr>
          <a:xfrm>
            <a:off x="9781794" y="53035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2E9BF0"/>
          </a:solidFill>
          <a:ln/>
        </p:spPr>
      </p:sp>
      <p:sp>
        <p:nvSpPr>
          <p:cNvPr id="27" name="Text 18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lt.diy/presentaciones/indotel-ciudades-inteligentes/src/derived/city_d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2286000"/>
            <a:ext cx="12191695" cy="4572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3F">
              <a:alpha val="8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66928" y="5349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estratégico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ESTRATÉGICA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66928" y="1810512"/>
            <a:ext cx="7360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para convertir esta cooperación en un instrumento permanente del INDOTEL.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566928" y="36576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ciudades conectadas. Más datos que generan valor.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decisiones. Un país que avanza.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13648" y="1508760"/>
            <a:ext cx="0" cy="393192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9828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INDOTEL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9098280" y="2450592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BD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Lideramos la transformación digital de los municipios dominicanos.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098280" y="4160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solidFill>
            <a:srgbClr val="2E9BF0"/>
          </a:solidFill>
          <a:ln/>
        </p:spPr>
      </p:sp>
      <p:sp>
        <p:nvSpPr>
          <p:cNvPr id="14" name="Text 11"/>
          <p:cNvSpPr/>
          <p:nvPr/>
        </p:nvSpPr>
        <p:spPr>
          <a:xfrm>
            <a:off x="11624767" y="6327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Instituto Dominicano de las Telecomunicaciones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Estrategia Nacional de Ciudades Inteligentes</dc:title>
  <dc:subject>Instrumento Estratégico INDOTEL — InDiCo Global / OASC / U4SSC</dc:subject>
  <dc:creator>INDOTEL</dc:creator>
  <cp:lastModifiedBy>INDOTEL</cp:lastModifiedBy>
  <cp:revision>1</cp:revision>
  <dcterms:created xsi:type="dcterms:W3CDTF">2026-08-07T14:52:17Z</dcterms:created>
  <dcterms:modified xsi:type="dcterms:W3CDTF">2026-08-07T14:52:17Z</dcterms:modified>
</cp:coreProperties>
</file>